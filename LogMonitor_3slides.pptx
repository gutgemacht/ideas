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1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image" Target="../media/image-1-12.png"/><Relationship Id="rId13" Type="http://schemas.openxmlformats.org/officeDocument/2006/relationships/image" Target="../media/image-1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7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25603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00" b="1" spc="250" kern="0" dirty="0">
                <a:solidFill>
                  <a:srgbClr val="22D3C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SOLUTION OVERVIEW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384048" y="493776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Multi-Agent Log Monitor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384048" y="1115568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00" i="1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From raw error to verified fix — local, private, human-controlled.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84048" y="1444752"/>
            <a:ext cx="8375904" cy="0"/>
          </a:xfrm>
          <a:prstGeom prst="line">
            <a:avLst/>
          </a:prstGeom>
          <a:noFill/>
          <a:ln w="19050">
            <a:solidFill>
              <a:srgbClr val="32384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1554480"/>
            <a:ext cx="3127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b="1" spc="150" kern="0" dirty="0">
                <a:solidFill>
                  <a:srgbClr val="F5A6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PROBLEM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84048" y="1883664"/>
            <a:ext cx="3127248" cy="786384"/>
          </a:xfrm>
          <a:prstGeom prst="roundRect">
            <a:avLst>
              <a:gd name="adj" fmla="val 9302"/>
            </a:avLst>
          </a:prstGeom>
          <a:solidFill>
            <a:srgbClr val="1B1F27"/>
          </a:solidFill>
          <a:ln w="19050">
            <a:solidFill>
              <a:srgbClr val="32384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39496" y="2048256"/>
            <a:ext cx="457200" cy="457200"/>
          </a:xfrm>
          <a:prstGeom prst="ellipse">
            <a:avLst/>
          </a:prstGeom>
          <a:solidFill>
            <a:srgbClr val="242832"/>
          </a:solidFill>
          <a:ln w="12700">
            <a:solidFill>
              <a:srgbClr val="242832"/>
            </a:solidFill>
            <a:prstDash val="solid"/>
          </a:ln>
        </p:spPr>
      </p:sp>
      <p:pic>
        <p:nvPicPr>
          <p:cNvPr id="9" name="Image 0" descr="/home/claude/pptx2/assets/ey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1218" y="2109978"/>
            <a:ext cx="333756" cy="33375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097280" y="1920240"/>
            <a:ext cx="2322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24/7 manual log watching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097280" y="2176272"/>
            <a:ext cx="23225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Errors appear at any hour; missing one means a delayed incident response.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384048" y="2752344"/>
            <a:ext cx="3127248" cy="786384"/>
          </a:xfrm>
          <a:prstGeom prst="roundRect">
            <a:avLst>
              <a:gd name="adj" fmla="val 9302"/>
            </a:avLst>
          </a:prstGeom>
          <a:solidFill>
            <a:srgbClr val="1B1F27"/>
          </a:solidFill>
          <a:ln w="19050">
            <a:solidFill>
              <a:srgbClr val="323845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39496" y="2916936"/>
            <a:ext cx="457200" cy="457200"/>
          </a:xfrm>
          <a:prstGeom prst="ellipse">
            <a:avLst/>
          </a:prstGeom>
          <a:solidFill>
            <a:srgbClr val="242832"/>
          </a:solidFill>
          <a:ln w="12700">
            <a:solidFill>
              <a:srgbClr val="242832"/>
            </a:solidFill>
            <a:prstDash val="solid"/>
          </a:ln>
        </p:spPr>
      </p:sp>
      <p:pic>
        <p:nvPicPr>
          <p:cNvPr id="14" name="Image 1" descr="/home/claude/pptx2/assets/bol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218" y="2978658"/>
            <a:ext cx="333756" cy="33375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097280" y="2788920"/>
            <a:ext cx="2322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Diagnosis takes expertise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1097280" y="3044952"/>
            <a:ext cx="23225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Only senior admins can reliably trace permission errors, misconfigs, crashes.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384048" y="3621024"/>
            <a:ext cx="3127248" cy="786384"/>
          </a:xfrm>
          <a:prstGeom prst="roundRect">
            <a:avLst>
              <a:gd name="adj" fmla="val 9302"/>
            </a:avLst>
          </a:prstGeom>
          <a:solidFill>
            <a:srgbClr val="1B1F27"/>
          </a:solidFill>
          <a:ln w="19050">
            <a:solidFill>
              <a:srgbClr val="323845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539496" y="3785616"/>
            <a:ext cx="457200" cy="457200"/>
          </a:xfrm>
          <a:prstGeom prst="ellipse">
            <a:avLst/>
          </a:prstGeom>
          <a:solidFill>
            <a:srgbClr val="242832"/>
          </a:solidFill>
          <a:ln w="12700">
            <a:solidFill>
              <a:srgbClr val="242832"/>
            </a:solidFill>
            <a:prstDash val="solid"/>
          </a:ln>
        </p:spPr>
      </p:sp>
      <p:pic>
        <p:nvPicPr>
          <p:cNvPr id="19" name="Image 2" descr="/home/claude/pptx2/assets/cog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218" y="3847338"/>
            <a:ext cx="333756" cy="333756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097280" y="3657600"/>
            <a:ext cx="2322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audit trail for fixes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1097280" y="3913632"/>
            <a:ext cx="23225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Ad-hoc terminal commands leave no record of what was changed and why.</a:t>
            </a:r>
            <a:endParaRPr lang="en-US" sz="1050" dirty="0"/>
          </a:p>
        </p:txBody>
      </p:sp>
      <p:sp>
        <p:nvSpPr>
          <p:cNvPr id="22" name="Text 17"/>
          <p:cNvSpPr/>
          <p:nvPr/>
        </p:nvSpPr>
        <p:spPr>
          <a:xfrm>
            <a:off x="3675888" y="1554480"/>
            <a:ext cx="1938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b="1" spc="150" kern="0" dirty="0">
                <a:solidFill>
                  <a:srgbClr val="22D3C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PIPELINE</a:t>
            </a:r>
            <a:endParaRPr lang="en-US" sz="1050" dirty="0"/>
          </a:p>
        </p:txBody>
      </p:sp>
      <p:sp>
        <p:nvSpPr>
          <p:cNvPr id="23" name="Shape 18"/>
          <p:cNvSpPr/>
          <p:nvPr/>
        </p:nvSpPr>
        <p:spPr>
          <a:xfrm>
            <a:off x="3730752" y="1938528"/>
            <a:ext cx="402336" cy="402336"/>
          </a:xfrm>
          <a:prstGeom prst="ellipse">
            <a:avLst/>
          </a:prstGeom>
          <a:solidFill>
            <a:srgbClr val="242832"/>
          </a:solidFill>
          <a:ln w="15240">
            <a:solidFill>
              <a:srgbClr val="22D3C8"/>
            </a:solidFill>
            <a:prstDash val="solid"/>
          </a:ln>
        </p:spPr>
      </p:sp>
      <p:pic>
        <p:nvPicPr>
          <p:cNvPr id="24" name="Image 3" descr="/home/claude/pptx2/assets/ey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9266" y="2027042"/>
            <a:ext cx="225308" cy="225308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4206240" y="1920240"/>
            <a:ext cx="1353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22D3C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Watchdog</a:t>
            </a:r>
            <a:endParaRPr lang="en-US" sz="1100" dirty="0"/>
          </a:p>
        </p:txBody>
      </p:sp>
      <p:sp>
        <p:nvSpPr>
          <p:cNvPr id="26" name="Text 20"/>
          <p:cNvSpPr/>
          <p:nvPr/>
        </p:nvSpPr>
        <p:spPr>
          <a:xfrm>
            <a:off x="4206240" y="2139696"/>
            <a:ext cx="1353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i="1" dirty="0">
                <a:solidFill>
                  <a:srgbClr val="7C869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detects error lines</a:t>
            </a:r>
            <a:endParaRPr lang="en-US" sz="900" dirty="0"/>
          </a:p>
        </p:txBody>
      </p:sp>
      <p:sp>
        <p:nvSpPr>
          <p:cNvPr id="27" name="Shape 21"/>
          <p:cNvSpPr/>
          <p:nvPr/>
        </p:nvSpPr>
        <p:spPr>
          <a:xfrm>
            <a:off x="3931920" y="2340864"/>
            <a:ext cx="0" cy="256032"/>
          </a:xfrm>
          <a:prstGeom prst="line">
            <a:avLst/>
          </a:prstGeom>
          <a:noFill/>
          <a:ln w="19050">
            <a:solidFill>
              <a:srgbClr val="323845"/>
            </a:solidFill>
            <a:prstDash val="solid"/>
          </a:ln>
        </p:spPr>
      </p:sp>
      <p:sp>
        <p:nvSpPr>
          <p:cNvPr id="28" name="Shape 22"/>
          <p:cNvSpPr/>
          <p:nvPr/>
        </p:nvSpPr>
        <p:spPr>
          <a:xfrm>
            <a:off x="3730752" y="2523744"/>
            <a:ext cx="402336" cy="402336"/>
          </a:xfrm>
          <a:prstGeom prst="ellipse">
            <a:avLst/>
          </a:prstGeom>
          <a:solidFill>
            <a:srgbClr val="242832"/>
          </a:solidFill>
          <a:ln w="15240">
            <a:solidFill>
              <a:srgbClr val="F5A623"/>
            </a:solidFill>
            <a:prstDash val="solid"/>
          </a:ln>
        </p:spPr>
      </p:sp>
      <p:pic>
        <p:nvPicPr>
          <p:cNvPr id="29" name="Image 4" descr="/home/claude/pptx2/assets/diag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9266" y="2612258"/>
            <a:ext cx="225308" cy="225308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4206240" y="2505456"/>
            <a:ext cx="1353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F5A6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Diagnostics</a:t>
            </a:r>
            <a:endParaRPr lang="en-US" sz="1100" dirty="0"/>
          </a:p>
        </p:txBody>
      </p:sp>
      <p:sp>
        <p:nvSpPr>
          <p:cNvPr id="31" name="Text 24"/>
          <p:cNvSpPr/>
          <p:nvPr/>
        </p:nvSpPr>
        <p:spPr>
          <a:xfrm>
            <a:off x="4206240" y="2724912"/>
            <a:ext cx="1353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i="1" dirty="0">
                <a:solidFill>
                  <a:srgbClr val="7C869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read-only commands</a:t>
            </a:r>
            <a:endParaRPr lang="en-US" sz="900" dirty="0"/>
          </a:p>
        </p:txBody>
      </p:sp>
      <p:sp>
        <p:nvSpPr>
          <p:cNvPr id="32" name="Shape 25"/>
          <p:cNvSpPr/>
          <p:nvPr/>
        </p:nvSpPr>
        <p:spPr>
          <a:xfrm>
            <a:off x="3931920" y="2926080"/>
            <a:ext cx="0" cy="256032"/>
          </a:xfrm>
          <a:prstGeom prst="line">
            <a:avLst/>
          </a:prstGeom>
          <a:noFill/>
          <a:ln w="19050">
            <a:solidFill>
              <a:srgbClr val="323845"/>
            </a:solidFill>
            <a:prstDash val="solid"/>
          </a:ln>
        </p:spPr>
      </p:sp>
      <p:sp>
        <p:nvSpPr>
          <p:cNvPr id="33" name="Shape 26"/>
          <p:cNvSpPr/>
          <p:nvPr/>
        </p:nvSpPr>
        <p:spPr>
          <a:xfrm>
            <a:off x="3730752" y="3108960"/>
            <a:ext cx="402336" cy="402336"/>
          </a:xfrm>
          <a:prstGeom prst="ellipse">
            <a:avLst/>
          </a:prstGeom>
          <a:solidFill>
            <a:srgbClr val="242832"/>
          </a:solidFill>
          <a:ln w="15240">
            <a:solidFill>
              <a:srgbClr val="4ADE80"/>
            </a:solidFill>
            <a:prstDash val="solid"/>
          </a:ln>
        </p:spPr>
      </p:sp>
      <p:pic>
        <p:nvPicPr>
          <p:cNvPr id="34" name="Image 5" descr="/home/claude/pptx2/assets/tools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19266" y="3197474"/>
            <a:ext cx="225308" cy="225308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4206240" y="3090672"/>
            <a:ext cx="1353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Solver</a:t>
            </a:r>
            <a:endParaRPr lang="en-US" sz="1100" dirty="0"/>
          </a:p>
        </p:txBody>
      </p:sp>
      <p:sp>
        <p:nvSpPr>
          <p:cNvPr id="36" name="Text 28"/>
          <p:cNvSpPr/>
          <p:nvPr/>
        </p:nvSpPr>
        <p:spPr>
          <a:xfrm>
            <a:off x="4206240" y="3310128"/>
            <a:ext cx="1353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i="1" dirty="0">
                <a:solidFill>
                  <a:srgbClr val="7C869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risk-rated fix cmds</a:t>
            </a:r>
            <a:endParaRPr lang="en-US" sz="900" dirty="0"/>
          </a:p>
        </p:txBody>
      </p:sp>
      <p:sp>
        <p:nvSpPr>
          <p:cNvPr id="37" name="Shape 29"/>
          <p:cNvSpPr/>
          <p:nvPr/>
        </p:nvSpPr>
        <p:spPr>
          <a:xfrm>
            <a:off x="3931920" y="3511296"/>
            <a:ext cx="0" cy="256032"/>
          </a:xfrm>
          <a:prstGeom prst="line">
            <a:avLst/>
          </a:prstGeom>
          <a:noFill/>
          <a:ln w="19050">
            <a:solidFill>
              <a:srgbClr val="323845"/>
            </a:solidFill>
            <a:prstDash val="solid"/>
          </a:ln>
        </p:spPr>
      </p:sp>
      <p:sp>
        <p:nvSpPr>
          <p:cNvPr id="38" name="Shape 30"/>
          <p:cNvSpPr/>
          <p:nvPr/>
        </p:nvSpPr>
        <p:spPr>
          <a:xfrm>
            <a:off x="3730752" y="3694176"/>
            <a:ext cx="402336" cy="402336"/>
          </a:xfrm>
          <a:prstGeom prst="ellipse">
            <a:avLst/>
          </a:prstGeom>
          <a:solidFill>
            <a:srgbClr val="242832"/>
          </a:solidFill>
          <a:ln w="15240">
            <a:solidFill>
              <a:srgbClr val="F5A623"/>
            </a:solidFill>
            <a:prstDash val="solid"/>
          </a:ln>
        </p:spPr>
      </p:sp>
      <p:pic>
        <p:nvPicPr>
          <p:cNvPr id="39" name="Image 6" descr="/home/claude/pptx2/assets/user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19266" y="3782690"/>
            <a:ext cx="225308" cy="225308"/>
          </a:xfrm>
          <a:prstGeom prst="rect">
            <a:avLst/>
          </a:prstGeom>
        </p:spPr>
      </p:pic>
      <p:sp>
        <p:nvSpPr>
          <p:cNvPr id="40" name="Text 31"/>
          <p:cNvSpPr/>
          <p:nvPr/>
        </p:nvSpPr>
        <p:spPr>
          <a:xfrm>
            <a:off x="4206240" y="3675888"/>
            <a:ext cx="1353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F5A6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Human Approval</a:t>
            </a:r>
            <a:endParaRPr lang="en-US" sz="1100" dirty="0"/>
          </a:p>
        </p:txBody>
      </p:sp>
      <p:sp>
        <p:nvSpPr>
          <p:cNvPr id="41" name="Text 32"/>
          <p:cNvSpPr/>
          <p:nvPr/>
        </p:nvSpPr>
        <p:spPr>
          <a:xfrm>
            <a:off x="4206240" y="3895344"/>
            <a:ext cx="1353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i="1" dirty="0">
                <a:solidFill>
                  <a:srgbClr val="7C869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confirm every step</a:t>
            </a:r>
            <a:endParaRPr lang="en-US" sz="900" dirty="0"/>
          </a:p>
        </p:txBody>
      </p:sp>
      <p:sp>
        <p:nvSpPr>
          <p:cNvPr id="42" name="Shape 33"/>
          <p:cNvSpPr/>
          <p:nvPr/>
        </p:nvSpPr>
        <p:spPr>
          <a:xfrm>
            <a:off x="3931920" y="4096512"/>
            <a:ext cx="0" cy="256032"/>
          </a:xfrm>
          <a:prstGeom prst="line">
            <a:avLst/>
          </a:prstGeom>
          <a:noFill/>
          <a:ln w="19050">
            <a:solidFill>
              <a:srgbClr val="323845"/>
            </a:solidFill>
            <a:prstDash val="solid"/>
          </a:ln>
        </p:spPr>
      </p:sp>
      <p:sp>
        <p:nvSpPr>
          <p:cNvPr id="43" name="Shape 34"/>
          <p:cNvSpPr/>
          <p:nvPr/>
        </p:nvSpPr>
        <p:spPr>
          <a:xfrm>
            <a:off x="3730752" y="4279392"/>
            <a:ext cx="402336" cy="402336"/>
          </a:xfrm>
          <a:prstGeom prst="ellipse">
            <a:avLst/>
          </a:prstGeom>
          <a:solidFill>
            <a:srgbClr val="242832"/>
          </a:solidFill>
          <a:ln w="15240">
            <a:solidFill>
              <a:srgbClr val="4ADE80"/>
            </a:solidFill>
            <a:prstDash val="solid"/>
          </a:ln>
        </p:spPr>
      </p:sp>
      <p:pic>
        <p:nvPicPr>
          <p:cNvPr id="44" name="Image 7" descr="/home/claude/pptx2/assets/check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19266" y="4367906"/>
            <a:ext cx="225308" cy="225308"/>
          </a:xfrm>
          <a:prstGeom prst="rect">
            <a:avLst/>
          </a:prstGeom>
        </p:spPr>
      </p:pic>
      <p:sp>
        <p:nvSpPr>
          <p:cNvPr id="45" name="Text 35"/>
          <p:cNvSpPr/>
          <p:nvPr/>
        </p:nvSpPr>
        <p:spPr>
          <a:xfrm>
            <a:off x="4206240" y="4261104"/>
            <a:ext cx="1353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Fix Applied</a:t>
            </a:r>
            <a:endParaRPr lang="en-US" sz="1100" dirty="0"/>
          </a:p>
        </p:txBody>
      </p:sp>
      <p:sp>
        <p:nvSpPr>
          <p:cNvPr id="46" name="Text 36"/>
          <p:cNvSpPr/>
          <p:nvPr/>
        </p:nvSpPr>
        <p:spPr>
          <a:xfrm>
            <a:off x="4206240" y="4480560"/>
            <a:ext cx="1353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i="1" dirty="0">
                <a:solidFill>
                  <a:srgbClr val="7C869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outcome logged</a:t>
            </a:r>
            <a:endParaRPr lang="en-US" sz="900" dirty="0"/>
          </a:p>
        </p:txBody>
      </p:sp>
      <p:sp>
        <p:nvSpPr>
          <p:cNvPr id="47" name="Text 37"/>
          <p:cNvSpPr/>
          <p:nvPr/>
        </p:nvSpPr>
        <p:spPr>
          <a:xfrm>
            <a:off x="5779008" y="1554480"/>
            <a:ext cx="2980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b="1" spc="150" kern="0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BENEFITS</a:t>
            </a:r>
            <a:endParaRPr lang="en-US" sz="1050" dirty="0"/>
          </a:p>
        </p:txBody>
      </p:sp>
      <p:sp>
        <p:nvSpPr>
          <p:cNvPr id="48" name="Shape 38"/>
          <p:cNvSpPr/>
          <p:nvPr/>
        </p:nvSpPr>
        <p:spPr>
          <a:xfrm>
            <a:off x="5779008" y="1874520"/>
            <a:ext cx="2980944" cy="534924"/>
          </a:xfrm>
          <a:prstGeom prst="roundRect">
            <a:avLst>
              <a:gd name="adj" fmla="val 13675"/>
            </a:avLst>
          </a:prstGeom>
          <a:solidFill>
            <a:srgbClr val="1B1F27"/>
          </a:solidFill>
          <a:ln w="19050">
            <a:solidFill>
              <a:srgbClr val="323845"/>
            </a:solidFill>
            <a:prstDash val="solid"/>
          </a:ln>
        </p:spPr>
      </p:sp>
      <p:sp>
        <p:nvSpPr>
          <p:cNvPr id="49" name="Shape 39"/>
          <p:cNvSpPr/>
          <p:nvPr/>
        </p:nvSpPr>
        <p:spPr>
          <a:xfrm>
            <a:off x="5879592" y="1968246"/>
            <a:ext cx="347472" cy="347472"/>
          </a:xfrm>
          <a:prstGeom prst="ellipse">
            <a:avLst/>
          </a:prstGeom>
          <a:solidFill>
            <a:srgbClr val="242832"/>
          </a:solidFill>
          <a:ln w="12700">
            <a:solidFill>
              <a:srgbClr val="242832"/>
            </a:solidFill>
            <a:prstDash val="solid"/>
          </a:ln>
        </p:spPr>
      </p:sp>
      <p:pic>
        <p:nvPicPr>
          <p:cNvPr id="50" name="Image 8" descr="/home/claude/pptx2/assets/lock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926501" y="2015155"/>
            <a:ext cx="253655" cy="253655"/>
          </a:xfrm>
          <a:prstGeom prst="rect">
            <a:avLst/>
          </a:prstGeom>
        </p:spPr>
      </p:pic>
      <p:sp>
        <p:nvSpPr>
          <p:cNvPr id="51" name="Text 40"/>
          <p:cNvSpPr/>
          <p:nvPr/>
        </p:nvSpPr>
        <p:spPr>
          <a:xfrm>
            <a:off x="6291072" y="1901952"/>
            <a:ext cx="239572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100% local &amp; private</a:t>
            </a:r>
            <a:endParaRPr lang="en-US" sz="1050" dirty="0"/>
          </a:p>
        </p:txBody>
      </p:sp>
      <p:sp>
        <p:nvSpPr>
          <p:cNvPr id="52" name="Text 41"/>
          <p:cNvSpPr/>
          <p:nvPr/>
        </p:nvSpPr>
        <p:spPr>
          <a:xfrm>
            <a:off x="6291072" y="2103120"/>
            <a:ext cx="23957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LLM calls stay in your network — no cloud, no leakage.</a:t>
            </a:r>
            <a:endParaRPr lang="en-US" sz="950" dirty="0"/>
          </a:p>
        </p:txBody>
      </p:sp>
      <p:sp>
        <p:nvSpPr>
          <p:cNvPr id="53" name="Shape 42"/>
          <p:cNvSpPr/>
          <p:nvPr/>
        </p:nvSpPr>
        <p:spPr>
          <a:xfrm>
            <a:off x="5779008" y="2464308"/>
            <a:ext cx="2980944" cy="534924"/>
          </a:xfrm>
          <a:prstGeom prst="roundRect">
            <a:avLst>
              <a:gd name="adj" fmla="val 13675"/>
            </a:avLst>
          </a:prstGeom>
          <a:solidFill>
            <a:srgbClr val="1B1F27"/>
          </a:solidFill>
          <a:ln w="19050">
            <a:solidFill>
              <a:srgbClr val="323845"/>
            </a:solidFill>
            <a:prstDash val="solid"/>
          </a:ln>
        </p:spPr>
      </p:sp>
      <p:sp>
        <p:nvSpPr>
          <p:cNvPr id="54" name="Shape 43"/>
          <p:cNvSpPr/>
          <p:nvPr/>
        </p:nvSpPr>
        <p:spPr>
          <a:xfrm>
            <a:off x="5879592" y="2558034"/>
            <a:ext cx="347472" cy="347472"/>
          </a:xfrm>
          <a:prstGeom prst="ellipse">
            <a:avLst/>
          </a:prstGeom>
          <a:solidFill>
            <a:srgbClr val="242832"/>
          </a:solidFill>
          <a:ln w="12700">
            <a:solidFill>
              <a:srgbClr val="242832"/>
            </a:solidFill>
            <a:prstDash val="solid"/>
          </a:ln>
        </p:spPr>
      </p:sp>
      <p:pic>
        <p:nvPicPr>
          <p:cNvPr id="55" name="Image 9" descr="/home/claude/pptx2/assets/shiel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926501" y="2604943"/>
            <a:ext cx="253655" cy="253655"/>
          </a:xfrm>
          <a:prstGeom prst="rect">
            <a:avLst/>
          </a:prstGeom>
        </p:spPr>
      </p:pic>
      <p:sp>
        <p:nvSpPr>
          <p:cNvPr id="56" name="Text 44"/>
          <p:cNvSpPr/>
          <p:nvPr/>
        </p:nvSpPr>
        <p:spPr>
          <a:xfrm>
            <a:off x="6291072" y="2491740"/>
            <a:ext cx="239572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Human-in-the-loop</a:t>
            </a:r>
            <a:endParaRPr lang="en-US" sz="1050" dirty="0"/>
          </a:p>
        </p:txBody>
      </p:sp>
      <p:sp>
        <p:nvSpPr>
          <p:cNvPr id="57" name="Text 45"/>
          <p:cNvSpPr/>
          <p:nvPr/>
        </p:nvSpPr>
        <p:spPr>
          <a:xfrm>
            <a:off x="6291072" y="2692908"/>
            <a:ext cx="23957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Nothing executes without explicit user approval.</a:t>
            </a:r>
            <a:endParaRPr lang="en-US" sz="950" dirty="0"/>
          </a:p>
        </p:txBody>
      </p:sp>
      <p:sp>
        <p:nvSpPr>
          <p:cNvPr id="58" name="Shape 46"/>
          <p:cNvSpPr/>
          <p:nvPr/>
        </p:nvSpPr>
        <p:spPr>
          <a:xfrm>
            <a:off x="5779008" y="3054096"/>
            <a:ext cx="2980944" cy="534924"/>
          </a:xfrm>
          <a:prstGeom prst="roundRect">
            <a:avLst>
              <a:gd name="adj" fmla="val 13675"/>
            </a:avLst>
          </a:prstGeom>
          <a:solidFill>
            <a:srgbClr val="1B1F27"/>
          </a:solidFill>
          <a:ln w="19050">
            <a:solidFill>
              <a:srgbClr val="323845"/>
            </a:solidFill>
            <a:prstDash val="solid"/>
          </a:ln>
        </p:spPr>
      </p:sp>
      <p:sp>
        <p:nvSpPr>
          <p:cNvPr id="59" name="Shape 47"/>
          <p:cNvSpPr/>
          <p:nvPr/>
        </p:nvSpPr>
        <p:spPr>
          <a:xfrm>
            <a:off x="5879592" y="3147822"/>
            <a:ext cx="347472" cy="347472"/>
          </a:xfrm>
          <a:prstGeom prst="ellipse">
            <a:avLst/>
          </a:prstGeom>
          <a:solidFill>
            <a:srgbClr val="242832"/>
          </a:solidFill>
          <a:ln w="12700">
            <a:solidFill>
              <a:srgbClr val="242832"/>
            </a:solidFill>
            <a:prstDash val="solid"/>
          </a:ln>
        </p:spPr>
      </p:sp>
      <p:pic>
        <p:nvPicPr>
          <p:cNvPr id="60" name="Image 10" descr="/home/claude/pptx2/assets/layer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926501" y="3194731"/>
            <a:ext cx="253655" cy="253655"/>
          </a:xfrm>
          <a:prstGeom prst="rect">
            <a:avLst/>
          </a:prstGeom>
        </p:spPr>
      </p:pic>
      <p:sp>
        <p:nvSpPr>
          <p:cNvPr id="61" name="Text 48"/>
          <p:cNvSpPr/>
          <p:nvPr/>
        </p:nvSpPr>
        <p:spPr>
          <a:xfrm>
            <a:off x="6291072" y="3081528"/>
            <a:ext cx="239572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Any LLM backend</a:t>
            </a:r>
            <a:endParaRPr lang="en-US" sz="1050" dirty="0"/>
          </a:p>
        </p:txBody>
      </p:sp>
      <p:sp>
        <p:nvSpPr>
          <p:cNvPr id="62" name="Text 49"/>
          <p:cNvSpPr/>
          <p:nvPr/>
        </p:nvSpPr>
        <p:spPr>
          <a:xfrm>
            <a:off x="6291072" y="3282696"/>
            <a:ext cx="23957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Ollama, vLLM, LM Studio, Mistral, Groq — one config line.</a:t>
            </a:r>
            <a:endParaRPr lang="en-US" sz="950" dirty="0"/>
          </a:p>
        </p:txBody>
      </p:sp>
      <p:sp>
        <p:nvSpPr>
          <p:cNvPr id="63" name="Shape 50"/>
          <p:cNvSpPr/>
          <p:nvPr/>
        </p:nvSpPr>
        <p:spPr>
          <a:xfrm>
            <a:off x="5779008" y="3643884"/>
            <a:ext cx="2980944" cy="534924"/>
          </a:xfrm>
          <a:prstGeom prst="roundRect">
            <a:avLst>
              <a:gd name="adj" fmla="val 13675"/>
            </a:avLst>
          </a:prstGeom>
          <a:solidFill>
            <a:srgbClr val="1B1F27"/>
          </a:solidFill>
          <a:ln w="19050">
            <a:solidFill>
              <a:srgbClr val="323845"/>
            </a:solidFill>
            <a:prstDash val="solid"/>
          </a:ln>
        </p:spPr>
      </p:sp>
      <p:sp>
        <p:nvSpPr>
          <p:cNvPr id="64" name="Shape 51"/>
          <p:cNvSpPr/>
          <p:nvPr/>
        </p:nvSpPr>
        <p:spPr>
          <a:xfrm>
            <a:off x="5879592" y="3737610"/>
            <a:ext cx="347472" cy="347472"/>
          </a:xfrm>
          <a:prstGeom prst="ellipse">
            <a:avLst/>
          </a:prstGeom>
          <a:solidFill>
            <a:srgbClr val="242832"/>
          </a:solidFill>
          <a:ln w="12700">
            <a:solidFill>
              <a:srgbClr val="242832"/>
            </a:solidFill>
            <a:prstDash val="solid"/>
          </a:ln>
        </p:spPr>
      </p:sp>
      <p:pic>
        <p:nvPicPr>
          <p:cNvPr id="65" name="Image 11" descr="/home/claude/pptx2/assets/fileCode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926501" y="3784519"/>
            <a:ext cx="253655" cy="253655"/>
          </a:xfrm>
          <a:prstGeom prst="rect">
            <a:avLst/>
          </a:prstGeom>
        </p:spPr>
      </p:pic>
      <p:sp>
        <p:nvSpPr>
          <p:cNvPr id="66" name="Text 52"/>
          <p:cNvSpPr/>
          <p:nvPr/>
        </p:nvSpPr>
        <p:spPr>
          <a:xfrm>
            <a:off x="6291072" y="3671316"/>
            <a:ext cx="239572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Zero heavy frameworks</a:t>
            </a:r>
            <a:endParaRPr lang="en-US" sz="1050" dirty="0"/>
          </a:p>
        </p:txBody>
      </p:sp>
      <p:sp>
        <p:nvSpPr>
          <p:cNvPr id="67" name="Text 53"/>
          <p:cNvSpPr/>
          <p:nvPr/>
        </p:nvSpPr>
        <p:spPr>
          <a:xfrm>
            <a:off x="6291072" y="3872484"/>
            <a:ext cx="23957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Pure Python stdlib + rich + watchdog only.</a:t>
            </a:r>
            <a:endParaRPr lang="en-US" sz="950" dirty="0"/>
          </a:p>
        </p:txBody>
      </p:sp>
      <p:sp>
        <p:nvSpPr>
          <p:cNvPr id="68" name="Shape 54"/>
          <p:cNvSpPr/>
          <p:nvPr/>
        </p:nvSpPr>
        <p:spPr>
          <a:xfrm>
            <a:off x="5779008" y="4233672"/>
            <a:ext cx="2980944" cy="534924"/>
          </a:xfrm>
          <a:prstGeom prst="roundRect">
            <a:avLst>
              <a:gd name="adj" fmla="val 13675"/>
            </a:avLst>
          </a:prstGeom>
          <a:solidFill>
            <a:srgbClr val="1B1F27"/>
          </a:solidFill>
          <a:ln w="19050">
            <a:solidFill>
              <a:srgbClr val="323845"/>
            </a:solidFill>
            <a:prstDash val="solid"/>
          </a:ln>
        </p:spPr>
      </p:sp>
      <p:sp>
        <p:nvSpPr>
          <p:cNvPr id="69" name="Shape 55"/>
          <p:cNvSpPr/>
          <p:nvPr/>
        </p:nvSpPr>
        <p:spPr>
          <a:xfrm>
            <a:off x="5879592" y="4327398"/>
            <a:ext cx="347472" cy="347472"/>
          </a:xfrm>
          <a:prstGeom prst="ellipse">
            <a:avLst/>
          </a:prstGeom>
          <a:solidFill>
            <a:srgbClr val="242832"/>
          </a:solidFill>
          <a:ln w="12700">
            <a:solidFill>
              <a:srgbClr val="242832"/>
            </a:solidFill>
            <a:prstDash val="solid"/>
          </a:ln>
        </p:spPr>
      </p:sp>
      <p:pic>
        <p:nvPicPr>
          <p:cNvPr id="70" name="Image 12" descr="/home/claude/pptx2/assets/network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926501" y="4374307"/>
            <a:ext cx="253655" cy="253655"/>
          </a:xfrm>
          <a:prstGeom prst="rect">
            <a:avLst/>
          </a:prstGeom>
        </p:spPr>
      </p:pic>
      <p:sp>
        <p:nvSpPr>
          <p:cNvPr id="71" name="Text 56"/>
          <p:cNvSpPr/>
          <p:nvPr/>
        </p:nvSpPr>
        <p:spPr>
          <a:xfrm>
            <a:off x="6291072" y="4261104"/>
            <a:ext cx="239572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Enterprise-ready path</a:t>
            </a:r>
            <a:endParaRPr lang="en-US" sz="1050" dirty="0"/>
          </a:p>
        </p:txBody>
      </p:sp>
      <p:sp>
        <p:nvSpPr>
          <p:cNvPr id="72" name="Text 57"/>
          <p:cNvSpPr/>
          <p:nvPr/>
        </p:nvSpPr>
        <p:spPr>
          <a:xfrm>
            <a:off x="6291072" y="4462272"/>
            <a:ext cx="23957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RAG + fine-tuning on org-specific error patterns.</a:t>
            </a:r>
            <a:endParaRPr lang="en-US" sz="950" dirty="0"/>
          </a:p>
        </p:txBody>
      </p:sp>
      <p:sp>
        <p:nvSpPr>
          <p:cNvPr id="73" name="Shape 58"/>
          <p:cNvSpPr/>
          <p:nvPr/>
        </p:nvSpPr>
        <p:spPr>
          <a:xfrm>
            <a:off x="384048" y="4818888"/>
            <a:ext cx="8375904" cy="0"/>
          </a:xfrm>
          <a:prstGeom prst="line">
            <a:avLst/>
          </a:prstGeom>
          <a:noFill/>
          <a:ln w="19050">
            <a:solidFill>
              <a:srgbClr val="323845"/>
            </a:solidFill>
            <a:prstDash val="solid"/>
          </a:ln>
        </p:spPr>
      </p:sp>
      <p:sp>
        <p:nvSpPr>
          <p:cNvPr id="74" name="Text 59"/>
          <p:cNvSpPr/>
          <p:nvPr/>
        </p:nvSpPr>
        <p:spPr>
          <a:xfrm>
            <a:off x="384048" y="486460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i="1" dirty="0">
                <a:solidFill>
                  <a:srgbClr val="7C869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Compatible backends:</a:t>
            </a:r>
            <a:endParaRPr lang="en-US" sz="1000" dirty="0"/>
          </a:p>
        </p:txBody>
      </p:sp>
      <p:sp>
        <p:nvSpPr>
          <p:cNvPr id="75" name="Shape 60"/>
          <p:cNvSpPr/>
          <p:nvPr/>
        </p:nvSpPr>
        <p:spPr>
          <a:xfrm>
            <a:off x="2304288" y="4864608"/>
            <a:ext cx="731520" cy="237744"/>
          </a:xfrm>
          <a:prstGeom prst="roundRect">
            <a:avLst>
              <a:gd name="adj" fmla="val 15385"/>
            </a:avLst>
          </a:prstGeom>
          <a:solidFill>
            <a:srgbClr val="242832"/>
          </a:solidFill>
          <a:ln w="12700">
            <a:solidFill>
              <a:srgbClr val="242832"/>
            </a:solidFill>
            <a:prstDash val="solid"/>
          </a:ln>
        </p:spPr>
      </p:sp>
      <p:sp>
        <p:nvSpPr>
          <p:cNvPr id="76" name="Text 61"/>
          <p:cNvSpPr/>
          <p:nvPr/>
        </p:nvSpPr>
        <p:spPr>
          <a:xfrm>
            <a:off x="2304288" y="4864608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Ollama</a:t>
            </a:r>
            <a:endParaRPr lang="en-US" sz="800" dirty="0"/>
          </a:p>
        </p:txBody>
      </p:sp>
      <p:sp>
        <p:nvSpPr>
          <p:cNvPr id="77" name="Shape 62"/>
          <p:cNvSpPr/>
          <p:nvPr/>
        </p:nvSpPr>
        <p:spPr>
          <a:xfrm>
            <a:off x="3099816" y="4864608"/>
            <a:ext cx="731520" cy="237744"/>
          </a:xfrm>
          <a:prstGeom prst="roundRect">
            <a:avLst>
              <a:gd name="adj" fmla="val 15385"/>
            </a:avLst>
          </a:prstGeom>
          <a:solidFill>
            <a:srgbClr val="242832"/>
          </a:solidFill>
          <a:ln w="12700">
            <a:solidFill>
              <a:srgbClr val="242832"/>
            </a:solidFill>
            <a:prstDash val="solid"/>
          </a:ln>
        </p:spPr>
      </p:sp>
      <p:sp>
        <p:nvSpPr>
          <p:cNvPr id="78" name="Text 63"/>
          <p:cNvSpPr/>
          <p:nvPr/>
        </p:nvSpPr>
        <p:spPr>
          <a:xfrm>
            <a:off x="3099816" y="4864608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vLLM</a:t>
            </a:r>
            <a:endParaRPr lang="en-US" sz="800" dirty="0"/>
          </a:p>
        </p:txBody>
      </p:sp>
      <p:sp>
        <p:nvSpPr>
          <p:cNvPr id="79" name="Shape 64"/>
          <p:cNvSpPr/>
          <p:nvPr/>
        </p:nvSpPr>
        <p:spPr>
          <a:xfrm>
            <a:off x="3895344" y="4864608"/>
            <a:ext cx="731520" cy="237744"/>
          </a:xfrm>
          <a:prstGeom prst="roundRect">
            <a:avLst>
              <a:gd name="adj" fmla="val 15385"/>
            </a:avLst>
          </a:prstGeom>
          <a:solidFill>
            <a:srgbClr val="242832"/>
          </a:solidFill>
          <a:ln w="12700">
            <a:solidFill>
              <a:srgbClr val="242832"/>
            </a:solidFill>
            <a:prstDash val="solid"/>
          </a:ln>
        </p:spPr>
      </p:sp>
      <p:sp>
        <p:nvSpPr>
          <p:cNvPr id="80" name="Text 65"/>
          <p:cNvSpPr/>
          <p:nvPr/>
        </p:nvSpPr>
        <p:spPr>
          <a:xfrm>
            <a:off x="3895344" y="4864608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LM Studio</a:t>
            </a:r>
            <a:endParaRPr lang="en-US" sz="800" dirty="0"/>
          </a:p>
        </p:txBody>
      </p:sp>
      <p:sp>
        <p:nvSpPr>
          <p:cNvPr id="81" name="Shape 66"/>
          <p:cNvSpPr/>
          <p:nvPr/>
        </p:nvSpPr>
        <p:spPr>
          <a:xfrm>
            <a:off x="4690872" y="4864608"/>
            <a:ext cx="731520" cy="237744"/>
          </a:xfrm>
          <a:prstGeom prst="roundRect">
            <a:avLst>
              <a:gd name="adj" fmla="val 15385"/>
            </a:avLst>
          </a:prstGeom>
          <a:solidFill>
            <a:srgbClr val="242832"/>
          </a:solidFill>
          <a:ln w="12700">
            <a:solidFill>
              <a:srgbClr val="242832"/>
            </a:solidFill>
            <a:prstDash val="solid"/>
          </a:ln>
        </p:spPr>
      </p:sp>
      <p:sp>
        <p:nvSpPr>
          <p:cNvPr id="82" name="Text 67"/>
          <p:cNvSpPr/>
          <p:nvPr/>
        </p:nvSpPr>
        <p:spPr>
          <a:xfrm>
            <a:off x="4690872" y="4864608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LocalAI</a:t>
            </a:r>
            <a:endParaRPr lang="en-US" sz="800" dirty="0"/>
          </a:p>
        </p:txBody>
      </p:sp>
      <p:sp>
        <p:nvSpPr>
          <p:cNvPr id="83" name="Shape 68"/>
          <p:cNvSpPr/>
          <p:nvPr/>
        </p:nvSpPr>
        <p:spPr>
          <a:xfrm>
            <a:off x="5486400" y="4864608"/>
            <a:ext cx="731520" cy="237744"/>
          </a:xfrm>
          <a:prstGeom prst="roundRect">
            <a:avLst>
              <a:gd name="adj" fmla="val 15385"/>
            </a:avLst>
          </a:prstGeom>
          <a:solidFill>
            <a:srgbClr val="242832"/>
          </a:solidFill>
          <a:ln w="12700">
            <a:solidFill>
              <a:srgbClr val="242832"/>
            </a:solidFill>
            <a:prstDash val="solid"/>
          </a:ln>
        </p:spPr>
      </p:sp>
      <p:sp>
        <p:nvSpPr>
          <p:cNvPr id="84" name="Text 69"/>
          <p:cNvSpPr/>
          <p:nvPr/>
        </p:nvSpPr>
        <p:spPr>
          <a:xfrm>
            <a:off x="5486400" y="4864608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llama.cpp</a:t>
            </a:r>
            <a:endParaRPr lang="en-US" sz="800" dirty="0"/>
          </a:p>
        </p:txBody>
      </p:sp>
      <p:sp>
        <p:nvSpPr>
          <p:cNvPr id="85" name="Shape 70"/>
          <p:cNvSpPr/>
          <p:nvPr/>
        </p:nvSpPr>
        <p:spPr>
          <a:xfrm>
            <a:off x="6281928" y="4864608"/>
            <a:ext cx="731520" cy="237744"/>
          </a:xfrm>
          <a:prstGeom prst="roundRect">
            <a:avLst>
              <a:gd name="adj" fmla="val 15385"/>
            </a:avLst>
          </a:prstGeom>
          <a:solidFill>
            <a:srgbClr val="242832"/>
          </a:solidFill>
          <a:ln w="12700">
            <a:solidFill>
              <a:srgbClr val="242832"/>
            </a:solidFill>
            <a:prstDash val="solid"/>
          </a:ln>
        </p:spPr>
      </p:sp>
      <p:sp>
        <p:nvSpPr>
          <p:cNvPr id="86" name="Text 71"/>
          <p:cNvSpPr/>
          <p:nvPr/>
        </p:nvSpPr>
        <p:spPr>
          <a:xfrm>
            <a:off x="6281928" y="4864608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Mistral</a:t>
            </a:r>
            <a:endParaRPr lang="en-US" sz="800" dirty="0"/>
          </a:p>
        </p:txBody>
      </p:sp>
      <p:sp>
        <p:nvSpPr>
          <p:cNvPr id="87" name="Shape 72"/>
          <p:cNvSpPr/>
          <p:nvPr/>
        </p:nvSpPr>
        <p:spPr>
          <a:xfrm>
            <a:off x="7077456" y="4864608"/>
            <a:ext cx="731520" cy="237744"/>
          </a:xfrm>
          <a:prstGeom prst="roundRect">
            <a:avLst>
              <a:gd name="adj" fmla="val 15385"/>
            </a:avLst>
          </a:prstGeom>
          <a:solidFill>
            <a:srgbClr val="242832"/>
          </a:solidFill>
          <a:ln w="12700">
            <a:solidFill>
              <a:srgbClr val="242832"/>
            </a:solidFill>
            <a:prstDash val="solid"/>
          </a:ln>
        </p:spPr>
      </p:sp>
      <p:sp>
        <p:nvSpPr>
          <p:cNvPr id="88" name="Text 73"/>
          <p:cNvSpPr/>
          <p:nvPr/>
        </p:nvSpPr>
        <p:spPr>
          <a:xfrm>
            <a:off x="7077456" y="4864608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Groq</a:t>
            </a:r>
            <a:endParaRPr lang="en-US" sz="800" dirty="0"/>
          </a:p>
        </p:txBody>
      </p:sp>
      <p:sp>
        <p:nvSpPr>
          <p:cNvPr id="89" name="Shape 74"/>
          <p:cNvSpPr/>
          <p:nvPr/>
        </p:nvSpPr>
        <p:spPr>
          <a:xfrm>
            <a:off x="7872984" y="4864608"/>
            <a:ext cx="731520" cy="237744"/>
          </a:xfrm>
          <a:prstGeom prst="roundRect">
            <a:avLst>
              <a:gd name="adj" fmla="val 15385"/>
            </a:avLst>
          </a:prstGeom>
          <a:solidFill>
            <a:srgbClr val="242832"/>
          </a:solidFill>
          <a:ln w="12700">
            <a:solidFill>
              <a:srgbClr val="242832"/>
            </a:solidFill>
            <a:prstDash val="solid"/>
          </a:ln>
        </p:spPr>
      </p:sp>
      <p:sp>
        <p:nvSpPr>
          <p:cNvPr id="90" name="Text 75"/>
          <p:cNvSpPr/>
          <p:nvPr/>
        </p:nvSpPr>
        <p:spPr>
          <a:xfrm>
            <a:off x="7872984" y="4864608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OpenAI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417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25603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00" b="1" spc="250" kern="0" dirty="0">
                <a:solidFill>
                  <a:srgbClr val="22D3C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ARCHITECTURE &amp; CONTROL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384048" y="493776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Three Agents — One Human at Every Decision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84048" y="1444752"/>
            <a:ext cx="8375904" cy="0"/>
          </a:xfrm>
          <a:prstGeom prst="line">
            <a:avLst/>
          </a:prstGeom>
          <a:noFill/>
          <a:ln w="19050">
            <a:solidFill>
              <a:srgbClr val="32384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84048" y="1536192"/>
            <a:ext cx="2651760" cy="1993392"/>
          </a:xfrm>
          <a:prstGeom prst="roundRect">
            <a:avLst>
              <a:gd name="adj" fmla="val 3670"/>
            </a:avLst>
          </a:prstGeom>
          <a:solidFill>
            <a:srgbClr val="1B1F27"/>
          </a:solidFill>
          <a:ln w="19050">
            <a:solidFill>
              <a:srgbClr val="22D3C8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30352" y="1682496"/>
            <a:ext cx="475488" cy="475488"/>
          </a:xfrm>
          <a:prstGeom prst="ellipse">
            <a:avLst/>
          </a:prstGeom>
          <a:solidFill>
            <a:srgbClr val="242832"/>
          </a:solidFill>
          <a:ln w="12700">
            <a:solidFill>
              <a:srgbClr val="242832"/>
            </a:solidFill>
            <a:prstDash val="solid"/>
          </a:ln>
        </p:spPr>
      </p:sp>
      <p:pic>
        <p:nvPicPr>
          <p:cNvPr id="7" name="Image 0" descr="/home/claude/pptx2/assets/ey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543" y="1746687"/>
            <a:ext cx="347106" cy="34710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33856" y="166420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22D3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Watchdog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1133856" y="1938528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i="1" dirty="0">
                <a:solidFill>
                  <a:srgbClr val="7C8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 (no LLM)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512064" y="2304288"/>
            <a:ext cx="2395728" cy="0"/>
          </a:xfrm>
          <a:prstGeom prst="line">
            <a:avLst/>
          </a:prstGeom>
          <a:noFill/>
          <a:ln w="19050">
            <a:solidFill>
              <a:srgbClr val="32384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12064" y="2386584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7C8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IN: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859536" y="2386584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 file events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512064" y="2715768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7C8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OUT: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859536" y="2715768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ErrorEvent {file, line, timestamp}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512064" y="3072384"/>
            <a:ext cx="2395728" cy="329184"/>
          </a:xfrm>
          <a:prstGeom prst="roundRect">
            <a:avLst>
              <a:gd name="adj" fmla="val 13889"/>
            </a:avLst>
          </a:prstGeom>
          <a:solidFill>
            <a:srgbClr val="242832"/>
          </a:solidFill>
          <a:ln w="12700">
            <a:solidFill>
              <a:srgbClr val="242832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03504" y="3072384"/>
            <a:ext cx="22128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i="1" dirty="0">
                <a:solidFill>
                  <a:srgbClr val="22D3C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Monitors every path in logs.lst via byte-offset tracking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3200400" y="1536192"/>
            <a:ext cx="2651760" cy="1993392"/>
          </a:xfrm>
          <a:prstGeom prst="roundRect">
            <a:avLst>
              <a:gd name="adj" fmla="val 3670"/>
            </a:avLst>
          </a:prstGeom>
          <a:solidFill>
            <a:srgbClr val="1B1F27"/>
          </a:solidFill>
          <a:ln w="19050">
            <a:solidFill>
              <a:srgbClr val="F5A62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22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3346704" y="1682496"/>
            <a:ext cx="475488" cy="475488"/>
          </a:xfrm>
          <a:prstGeom prst="ellipse">
            <a:avLst/>
          </a:prstGeom>
          <a:solidFill>
            <a:srgbClr val="242832"/>
          </a:solidFill>
          <a:ln w="12700">
            <a:solidFill>
              <a:srgbClr val="242832"/>
            </a:solidFill>
            <a:prstDash val="solid"/>
          </a:ln>
        </p:spPr>
      </p:sp>
      <p:pic>
        <p:nvPicPr>
          <p:cNvPr id="19" name="Image 1" descr="/home/claude/pptx2/assets/dia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0895" y="1746687"/>
            <a:ext cx="347106" cy="347106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3950208" y="166420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Diagnostic Agent</a:t>
            </a:r>
            <a:endParaRPr lang="en-US" sz="1250" dirty="0"/>
          </a:p>
        </p:txBody>
      </p:sp>
      <p:sp>
        <p:nvSpPr>
          <p:cNvPr id="21" name="Text 17"/>
          <p:cNvSpPr/>
          <p:nvPr/>
        </p:nvSpPr>
        <p:spPr>
          <a:xfrm>
            <a:off x="3950208" y="1938528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i="1" dirty="0">
                <a:solidFill>
                  <a:srgbClr val="7C8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"Senior Linux Diagnostics Expert"</a:t>
            </a:r>
            <a:endParaRPr lang="en-US" sz="900" dirty="0"/>
          </a:p>
        </p:txBody>
      </p:sp>
      <p:sp>
        <p:nvSpPr>
          <p:cNvPr id="22" name="Shape 18"/>
          <p:cNvSpPr/>
          <p:nvPr/>
        </p:nvSpPr>
        <p:spPr>
          <a:xfrm>
            <a:off x="3328416" y="2304288"/>
            <a:ext cx="2395728" cy="0"/>
          </a:xfrm>
          <a:prstGeom prst="line">
            <a:avLst/>
          </a:prstGeom>
          <a:noFill/>
          <a:ln w="19050">
            <a:solidFill>
              <a:srgbClr val="323845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3328416" y="2386584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7C8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IN:</a:t>
            </a:r>
            <a:endParaRPr lang="en-US" sz="900" dirty="0"/>
          </a:p>
        </p:txBody>
      </p:sp>
      <p:sp>
        <p:nvSpPr>
          <p:cNvPr id="24" name="Text 20"/>
          <p:cNvSpPr/>
          <p:nvPr/>
        </p:nvSpPr>
        <p:spPr>
          <a:xfrm>
            <a:off x="3675888" y="2386584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raw error line</a:t>
            </a:r>
            <a:endParaRPr lang="en-US" sz="900" dirty="0"/>
          </a:p>
        </p:txBody>
      </p:sp>
      <p:sp>
        <p:nvSpPr>
          <p:cNvPr id="25" name="Text 21"/>
          <p:cNvSpPr/>
          <p:nvPr/>
        </p:nvSpPr>
        <p:spPr>
          <a:xfrm>
            <a:off x="3328416" y="2715768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7C8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OUT: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3675888" y="2715768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{command, description}, … ]</a:t>
            </a:r>
            <a:endParaRPr lang="en-US" sz="900" dirty="0"/>
          </a:p>
        </p:txBody>
      </p:sp>
      <p:sp>
        <p:nvSpPr>
          <p:cNvPr id="27" name="Shape 23"/>
          <p:cNvSpPr/>
          <p:nvPr/>
        </p:nvSpPr>
        <p:spPr>
          <a:xfrm>
            <a:off x="3328416" y="3072384"/>
            <a:ext cx="2395728" cy="329184"/>
          </a:xfrm>
          <a:prstGeom prst="roundRect">
            <a:avLst>
              <a:gd name="adj" fmla="val 13889"/>
            </a:avLst>
          </a:prstGeom>
          <a:solidFill>
            <a:srgbClr val="242832"/>
          </a:solidFill>
          <a:ln w="12700">
            <a:solidFill>
              <a:srgbClr val="242832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3419856" y="3072384"/>
            <a:ext cx="22128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i="1" dirty="0">
                <a:solidFill>
                  <a:srgbClr val="F5A6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READ-ONLY commands only — no system modifications</a:t>
            </a:r>
            <a:endParaRPr lang="en-US" sz="900" dirty="0"/>
          </a:p>
        </p:txBody>
      </p:sp>
      <p:sp>
        <p:nvSpPr>
          <p:cNvPr id="29" name="Shape 25"/>
          <p:cNvSpPr/>
          <p:nvPr/>
        </p:nvSpPr>
        <p:spPr>
          <a:xfrm>
            <a:off x="6016752" y="1536192"/>
            <a:ext cx="2651760" cy="1993392"/>
          </a:xfrm>
          <a:prstGeom prst="roundRect">
            <a:avLst>
              <a:gd name="adj" fmla="val 3670"/>
            </a:avLst>
          </a:prstGeom>
          <a:solidFill>
            <a:srgbClr val="1B1F27"/>
          </a:solidFill>
          <a:ln w="19050">
            <a:solidFill>
              <a:srgbClr val="4ADE8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22000"/>
              </a:srgbClr>
            </a:outerShdw>
          </a:effectLst>
        </p:spPr>
      </p:sp>
      <p:sp>
        <p:nvSpPr>
          <p:cNvPr id="30" name="Shape 26"/>
          <p:cNvSpPr/>
          <p:nvPr/>
        </p:nvSpPr>
        <p:spPr>
          <a:xfrm>
            <a:off x="6163056" y="1682496"/>
            <a:ext cx="475488" cy="475488"/>
          </a:xfrm>
          <a:prstGeom prst="ellipse">
            <a:avLst/>
          </a:prstGeom>
          <a:solidFill>
            <a:srgbClr val="242832"/>
          </a:solidFill>
          <a:ln w="12700">
            <a:solidFill>
              <a:srgbClr val="242832"/>
            </a:solidFill>
            <a:prstDash val="solid"/>
          </a:ln>
        </p:spPr>
      </p:sp>
      <p:pic>
        <p:nvPicPr>
          <p:cNvPr id="31" name="Image 2" descr="/home/claude/pptx2/assets/tool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7247" y="1746687"/>
            <a:ext cx="347106" cy="347106"/>
          </a:xfrm>
          <a:prstGeom prst="rect">
            <a:avLst/>
          </a:prstGeom>
        </p:spPr>
      </p:pic>
      <p:sp>
        <p:nvSpPr>
          <p:cNvPr id="32" name="Text 27"/>
          <p:cNvSpPr/>
          <p:nvPr/>
        </p:nvSpPr>
        <p:spPr>
          <a:xfrm>
            <a:off x="6766560" y="166420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Solver Agent</a:t>
            </a:r>
            <a:endParaRPr lang="en-US" sz="1250" dirty="0"/>
          </a:p>
        </p:txBody>
      </p:sp>
      <p:sp>
        <p:nvSpPr>
          <p:cNvPr id="33" name="Text 28"/>
          <p:cNvSpPr/>
          <p:nvPr/>
        </p:nvSpPr>
        <p:spPr>
          <a:xfrm>
            <a:off x="6766560" y="1938528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i="1" dirty="0">
                <a:solidFill>
                  <a:srgbClr val="7C8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"Senior Linux Sysadmin"</a:t>
            </a:r>
            <a:endParaRPr lang="en-US" sz="900" dirty="0"/>
          </a:p>
        </p:txBody>
      </p:sp>
      <p:sp>
        <p:nvSpPr>
          <p:cNvPr id="34" name="Shape 29"/>
          <p:cNvSpPr/>
          <p:nvPr/>
        </p:nvSpPr>
        <p:spPr>
          <a:xfrm>
            <a:off x="6144768" y="2304288"/>
            <a:ext cx="2395728" cy="0"/>
          </a:xfrm>
          <a:prstGeom prst="line">
            <a:avLst/>
          </a:prstGeom>
          <a:noFill/>
          <a:ln w="19050">
            <a:solidFill>
              <a:srgbClr val="323845"/>
            </a:solidFill>
            <a:prstDash val="solid"/>
          </a:ln>
        </p:spPr>
      </p:sp>
      <p:sp>
        <p:nvSpPr>
          <p:cNvPr id="35" name="Text 30"/>
          <p:cNvSpPr/>
          <p:nvPr/>
        </p:nvSpPr>
        <p:spPr>
          <a:xfrm>
            <a:off x="6144768" y="2386584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7C8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IN:</a:t>
            </a:r>
            <a:endParaRPr lang="en-US" sz="900" dirty="0"/>
          </a:p>
        </p:txBody>
      </p:sp>
      <p:sp>
        <p:nvSpPr>
          <p:cNvPr id="36" name="Text 31"/>
          <p:cNvSpPr/>
          <p:nvPr/>
        </p:nvSpPr>
        <p:spPr>
          <a:xfrm>
            <a:off x="6492240" y="2386584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error + diagnostic stdout</a:t>
            </a:r>
            <a:endParaRPr lang="en-US" sz="900" dirty="0"/>
          </a:p>
        </p:txBody>
      </p:sp>
      <p:sp>
        <p:nvSpPr>
          <p:cNvPr id="37" name="Text 32"/>
          <p:cNvSpPr/>
          <p:nvPr/>
        </p:nvSpPr>
        <p:spPr>
          <a:xfrm>
            <a:off x="6144768" y="2715768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7C8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OUT:</a:t>
            </a:r>
            <a:endParaRPr lang="en-US" sz="900" dirty="0"/>
          </a:p>
        </p:txBody>
      </p:sp>
      <p:sp>
        <p:nvSpPr>
          <p:cNvPr id="38" name="Text 33"/>
          <p:cNvSpPr/>
          <p:nvPr/>
        </p:nvSpPr>
        <p:spPr>
          <a:xfrm>
            <a:off x="6492240" y="2715768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{command, description, criticality}, … ]</a:t>
            </a:r>
            <a:endParaRPr lang="en-US" sz="900" dirty="0"/>
          </a:p>
        </p:txBody>
      </p:sp>
      <p:sp>
        <p:nvSpPr>
          <p:cNvPr id="39" name="Shape 34"/>
          <p:cNvSpPr/>
          <p:nvPr/>
        </p:nvSpPr>
        <p:spPr>
          <a:xfrm>
            <a:off x="6144768" y="3072384"/>
            <a:ext cx="2395728" cy="329184"/>
          </a:xfrm>
          <a:prstGeom prst="roundRect">
            <a:avLst>
              <a:gd name="adj" fmla="val 13889"/>
            </a:avLst>
          </a:prstGeom>
          <a:solidFill>
            <a:srgbClr val="242832"/>
          </a:solidFill>
          <a:ln w="12700">
            <a:solidFill>
              <a:srgbClr val="242832"/>
            </a:solidFill>
            <a:prstDash val="solid"/>
          </a:ln>
        </p:spPr>
      </p:sp>
      <p:sp>
        <p:nvSpPr>
          <p:cNvPr id="40" name="Text 35"/>
          <p:cNvSpPr/>
          <p:nvPr/>
        </p:nvSpPr>
        <p:spPr>
          <a:xfrm>
            <a:off x="6236208" y="3072384"/>
            <a:ext cx="22128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i="1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May request extra diagnostics before proposing a fix</a:t>
            </a:r>
            <a:endParaRPr lang="en-US" sz="900" dirty="0"/>
          </a:p>
        </p:txBody>
      </p:sp>
      <p:sp>
        <p:nvSpPr>
          <p:cNvPr id="41" name="Shape 36"/>
          <p:cNvSpPr/>
          <p:nvPr/>
        </p:nvSpPr>
        <p:spPr>
          <a:xfrm>
            <a:off x="384048" y="3593592"/>
            <a:ext cx="8375904" cy="0"/>
          </a:xfrm>
          <a:prstGeom prst="line">
            <a:avLst/>
          </a:prstGeom>
          <a:noFill/>
          <a:ln w="19050">
            <a:solidFill>
              <a:srgbClr val="323845"/>
            </a:solidFill>
            <a:prstDash val="solid"/>
          </a:ln>
        </p:spPr>
      </p:sp>
      <p:sp>
        <p:nvSpPr>
          <p:cNvPr id="42" name="Text 37"/>
          <p:cNvSpPr/>
          <p:nvPr/>
        </p:nvSpPr>
        <p:spPr>
          <a:xfrm>
            <a:off x="384048" y="363016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b="1" spc="150" kern="0" dirty="0">
                <a:solidFill>
                  <a:srgbClr val="F5A6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 DECISION FLOW</a:t>
            </a:r>
            <a:endParaRPr lang="en-US" sz="1000" dirty="0"/>
          </a:p>
        </p:txBody>
      </p:sp>
      <p:sp>
        <p:nvSpPr>
          <p:cNvPr id="43" name="Text 38"/>
          <p:cNvSpPr/>
          <p:nvPr/>
        </p:nvSpPr>
        <p:spPr>
          <a:xfrm>
            <a:off x="4572000" y="3630168"/>
            <a:ext cx="41879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1000" b="1" spc="150" kern="0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Criticality colour-coding of proposed commands</a:t>
            </a:r>
            <a:endParaRPr lang="en-US" sz="1000" dirty="0"/>
          </a:p>
        </p:txBody>
      </p:sp>
      <p:sp>
        <p:nvSpPr>
          <p:cNvPr id="44" name="Shape 39"/>
          <p:cNvSpPr/>
          <p:nvPr/>
        </p:nvSpPr>
        <p:spPr>
          <a:xfrm>
            <a:off x="384048" y="3877056"/>
            <a:ext cx="2157984" cy="1234440"/>
          </a:xfrm>
          <a:prstGeom prst="roundRect">
            <a:avLst>
              <a:gd name="adj" fmla="val 5926"/>
            </a:avLst>
          </a:prstGeom>
          <a:solidFill>
            <a:srgbClr val="1B1F27"/>
          </a:solidFill>
          <a:ln w="19050">
            <a:solidFill>
              <a:srgbClr val="F87171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22000"/>
              </a:srgbClr>
            </a:outerShdw>
          </a:effectLst>
        </p:spPr>
      </p:sp>
      <p:sp>
        <p:nvSpPr>
          <p:cNvPr id="45" name="Text 40"/>
          <p:cNvSpPr/>
          <p:nvPr/>
        </p:nvSpPr>
        <p:spPr>
          <a:xfrm>
            <a:off x="512064" y="3950208"/>
            <a:ext cx="1901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b="1" spc="100" kern="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BLOCK 1</a:t>
            </a:r>
            <a:endParaRPr lang="en-US" sz="900" dirty="0"/>
          </a:p>
        </p:txBody>
      </p:sp>
      <p:sp>
        <p:nvSpPr>
          <p:cNvPr id="46" name="Text 41"/>
          <p:cNvSpPr/>
          <p:nvPr/>
        </p:nvSpPr>
        <p:spPr>
          <a:xfrm>
            <a:off x="512064" y="4133088"/>
            <a:ext cx="19019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Error Detected</a:t>
            </a:r>
            <a:endParaRPr lang="en-US" sz="1300" dirty="0"/>
          </a:p>
        </p:txBody>
      </p:sp>
      <p:sp>
        <p:nvSpPr>
          <p:cNvPr id="47" name="Shape 42"/>
          <p:cNvSpPr/>
          <p:nvPr/>
        </p:nvSpPr>
        <p:spPr>
          <a:xfrm>
            <a:off x="512064" y="4425696"/>
            <a:ext cx="1901952" cy="256032"/>
          </a:xfrm>
          <a:prstGeom prst="roundRect">
            <a:avLst>
              <a:gd name="adj" fmla="val 14286"/>
            </a:avLst>
          </a:prstGeom>
          <a:solidFill>
            <a:srgbClr val="242832"/>
          </a:solidFill>
          <a:ln w="10160">
            <a:solidFill>
              <a:srgbClr val="F87171"/>
            </a:solidFill>
            <a:prstDash val="solid"/>
          </a:ln>
        </p:spPr>
      </p:sp>
      <p:sp>
        <p:nvSpPr>
          <p:cNvPr id="48" name="Text 43"/>
          <p:cNvSpPr/>
          <p:nvPr/>
        </p:nvSpPr>
        <p:spPr>
          <a:xfrm>
            <a:off x="512064" y="4425696"/>
            <a:ext cx="1901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[1] Confirm</a:t>
            </a:r>
            <a:endParaRPr lang="en-US" sz="1000" dirty="0"/>
          </a:p>
        </p:txBody>
      </p:sp>
      <p:sp>
        <p:nvSpPr>
          <p:cNvPr id="49" name="Shape 44"/>
          <p:cNvSpPr/>
          <p:nvPr/>
        </p:nvSpPr>
        <p:spPr>
          <a:xfrm>
            <a:off x="512064" y="4736592"/>
            <a:ext cx="1901952" cy="256032"/>
          </a:xfrm>
          <a:prstGeom prst="roundRect">
            <a:avLst>
              <a:gd name="adj" fmla="val 14286"/>
            </a:avLst>
          </a:prstGeom>
          <a:solidFill>
            <a:srgbClr val="242832"/>
          </a:solidFill>
          <a:ln w="10160">
            <a:solidFill>
              <a:srgbClr val="7C8694"/>
            </a:solidFill>
            <a:prstDash val="solid"/>
          </a:ln>
        </p:spPr>
      </p:sp>
      <p:sp>
        <p:nvSpPr>
          <p:cNvPr id="50" name="Text 45"/>
          <p:cNvSpPr/>
          <p:nvPr/>
        </p:nvSpPr>
        <p:spPr>
          <a:xfrm>
            <a:off x="512064" y="4736592"/>
            <a:ext cx="1901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7C8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[2] Ignore</a:t>
            </a:r>
            <a:endParaRPr lang="en-US" sz="1000" dirty="0"/>
          </a:p>
        </p:txBody>
      </p:sp>
      <p:pic>
        <p:nvPicPr>
          <p:cNvPr id="51" name="Image 3" descr="/home/claude/pptx2/assets/arro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60320" y="4366260"/>
            <a:ext cx="256032" cy="256032"/>
          </a:xfrm>
          <a:prstGeom prst="rect">
            <a:avLst/>
          </a:prstGeom>
        </p:spPr>
      </p:pic>
      <p:sp>
        <p:nvSpPr>
          <p:cNvPr id="52" name="Shape 46"/>
          <p:cNvSpPr/>
          <p:nvPr/>
        </p:nvSpPr>
        <p:spPr>
          <a:xfrm>
            <a:off x="2697480" y="3877056"/>
            <a:ext cx="2157984" cy="1234440"/>
          </a:xfrm>
          <a:prstGeom prst="roundRect">
            <a:avLst>
              <a:gd name="adj" fmla="val 5926"/>
            </a:avLst>
          </a:prstGeom>
          <a:solidFill>
            <a:srgbClr val="1B1F27"/>
          </a:solidFill>
          <a:ln w="19050">
            <a:solidFill>
              <a:srgbClr val="F5A62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22000"/>
              </a:srgbClr>
            </a:outerShdw>
          </a:effectLst>
        </p:spPr>
      </p:sp>
      <p:sp>
        <p:nvSpPr>
          <p:cNvPr id="53" name="Text 47"/>
          <p:cNvSpPr/>
          <p:nvPr/>
        </p:nvSpPr>
        <p:spPr>
          <a:xfrm>
            <a:off x="2825496" y="3950208"/>
            <a:ext cx="1901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b="1" spc="100" kern="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BLOCK 2</a:t>
            </a:r>
            <a:endParaRPr lang="en-US" sz="900" dirty="0"/>
          </a:p>
        </p:txBody>
      </p:sp>
      <p:sp>
        <p:nvSpPr>
          <p:cNvPr id="54" name="Text 48"/>
          <p:cNvSpPr/>
          <p:nvPr/>
        </p:nvSpPr>
        <p:spPr>
          <a:xfrm>
            <a:off x="2825496" y="4133088"/>
            <a:ext cx="19019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Diagnostics</a:t>
            </a:r>
            <a:endParaRPr lang="en-US" sz="1300" dirty="0"/>
          </a:p>
        </p:txBody>
      </p:sp>
      <p:sp>
        <p:nvSpPr>
          <p:cNvPr id="55" name="Shape 49"/>
          <p:cNvSpPr/>
          <p:nvPr/>
        </p:nvSpPr>
        <p:spPr>
          <a:xfrm>
            <a:off x="2825496" y="4425696"/>
            <a:ext cx="1901952" cy="256032"/>
          </a:xfrm>
          <a:prstGeom prst="roundRect">
            <a:avLst>
              <a:gd name="adj" fmla="val 14286"/>
            </a:avLst>
          </a:prstGeom>
          <a:solidFill>
            <a:srgbClr val="242832"/>
          </a:solidFill>
          <a:ln w="10160">
            <a:solidFill>
              <a:srgbClr val="F5A623"/>
            </a:solidFill>
            <a:prstDash val="solid"/>
          </a:ln>
        </p:spPr>
      </p:sp>
      <p:sp>
        <p:nvSpPr>
          <p:cNvPr id="56" name="Text 50"/>
          <p:cNvSpPr/>
          <p:nvPr/>
        </p:nvSpPr>
        <p:spPr>
          <a:xfrm>
            <a:off x="2825496" y="4425696"/>
            <a:ext cx="1901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[1] Allow</a:t>
            </a:r>
            <a:endParaRPr lang="en-US" sz="1000" dirty="0"/>
          </a:p>
        </p:txBody>
      </p:sp>
      <p:sp>
        <p:nvSpPr>
          <p:cNvPr id="57" name="Shape 51"/>
          <p:cNvSpPr/>
          <p:nvPr/>
        </p:nvSpPr>
        <p:spPr>
          <a:xfrm>
            <a:off x="2825496" y="4736592"/>
            <a:ext cx="1901952" cy="256032"/>
          </a:xfrm>
          <a:prstGeom prst="roundRect">
            <a:avLst>
              <a:gd name="adj" fmla="val 14286"/>
            </a:avLst>
          </a:prstGeom>
          <a:solidFill>
            <a:srgbClr val="242832"/>
          </a:solidFill>
          <a:ln w="10160">
            <a:solidFill>
              <a:srgbClr val="7C8694"/>
            </a:solidFill>
            <a:prstDash val="solid"/>
          </a:ln>
        </p:spPr>
      </p:sp>
      <p:sp>
        <p:nvSpPr>
          <p:cNvPr id="58" name="Text 52"/>
          <p:cNvSpPr/>
          <p:nvPr/>
        </p:nvSpPr>
        <p:spPr>
          <a:xfrm>
            <a:off x="2825496" y="4736592"/>
            <a:ext cx="1901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7C8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[2] Deny</a:t>
            </a:r>
            <a:endParaRPr lang="en-US" sz="1000" dirty="0"/>
          </a:p>
        </p:txBody>
      </p:sp>
      <p:pic>
        <p:nvPicPr>
          <p:cNvPr id="59" name="Image 4" descr="/home/claude/pptx2/assets/arrow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73752" y="4366260"/>
            <a:ext cx="256032" cy="256032"/>
          </a:xfrm>
          <a:prstGeom prst="rect">
            <a:avLst/>
          </a:prstGeom>
        </p:spPr>
      </p:pic>
      <p:sp>
        <p:nvSpPr>
          <p:cNvPr id="60" name="Shape 53"/>
          <p:cNvSpPr/>
          <p:nvPr/>
        </p:nvSpPr>
        <p:spPr>
          <a:xfrm>
            <a:off x="5010912" y="3877056"/>
            <a:ext cx="2157984" cy="1234440"/>
          </a:xfrm>
          <a:prstGeom prst="roundRect">
            <a:avLst>
              <a:gd name="adj" fmla="val 5926"/>
            </a:avLst>
          </a:prstGeom>
          <a:solidFill>
            <a:srgbClr val="1B1F27"/>
          </a:solidFill>
          <a:ln w="19050">
            <a:solidFill>
              <a:srgbClr val="4ADE8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22000"/>
              </a:srgbClr>
            </a:outerShdw>
          </a:effectLst>
        </p:spPr>
      </p:sp>
      <p:sp>
        <p:nvSpPr>
          <p:cNvPr id="61" name="Text 54"/>
          <p:cNvSpPr/>
          <p:nvPr/>
        </p:nvSpPr>
        <p:spPr>
          <a:xfrm>
            <a:off x="5138928" y="3950208"/>
            <a:ext cx="1901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b="1" spc="100" kern="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BLOCK 3</a:t>
            </a:r>
            <a:endParaRPr lang="en-US" sz="900" dirty="0"/>
          </a:p>
        </p:txBody>
      </p:sp>
      <p:sp>
        <p:nvSpPr>
          <p:cNvPr id="62" name="Text 55"/>
          <p:cNvSpPr/>
          <p:nvPr/>
        </p:nvSpPr>
        <p:spPr>
          <a:xfrm>
            <a:off x="5138928" y="4133088"/>
            <a:ext cx="19019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Fix Commands</a:t>
            </a:r>
            <a:endParaRPr lang="en-US" sz="1300" dirty="0"/>
          </a:p>
        </p:txBody>
      </p:sp>
      <p:sp>
        <p:nvSpPr>
          <p:cNvPr id="63" name="Shape 56"/>
          <p:cNvSpPr/>
          <p:nvPr/>
        </p:nvSpPr>
        <p:spPr>
          <a:xfrm>
            <a:off x="5138928" y="4425696"/>
            <a:ext cx="1901952" cy="256032"/>
          </a:xfrm>
          <a:prstGeom prst="roundRect">
            <a:avLst>
              <a:gd name="adj" fmla="val 14286"/>
            </a:avLst>
          </a:prstGeom>
          <a:solidFill>
            <a:srgbClr val="242832"/>
          </a:solidFill>
          <a:ln w="10160">
            <a:solidFill>
              <a:srgbClr val="4ADE80"/>
            </a:solidFill>
            <a:prstDash val="solid"/>
          </a:ln>
        </p:spPr>
      </p:sp>
      <p:sp>
        <p:nvSpPr>
          <p:cNvPr id="64" name="Text 57"/>
          <p:cNvSpPr/>
          <p:nvPr/>
        </p:nvSpPr>
        <p:spPr>
          <a:xfrm>
            <a:off x="5138928" y="4425696"/>
            <a:ext cx="1901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[1] Apply</a:t>
            </a:r>
            <a:endParaRPr lang="en-US" sz="1000" dirty="0"/>
          </a:p>
        </p:txBody>
      </p:sp>
      <p:sp>
        <p:nvSpPr>
          <p:cNvPr id="65" name="Shape 58"/>
          <p:cNvSpPr/>
          <p:nvPr/>
        </p:nvSpPr>
        <p:spPr>
          <a:xfrm>
            <a:off x="5138928" y="4736592"/>
            <a:ext cx="1901952" cy="256032"/>
          </a:xfrm>
          <a:prstGeom prst="roundRect">
            <a:avLst>
              <a:gd name="adj" fmla="val 14286"/>
            </a:avLst>
          </a:prstGeom>
          <a:solidFill>
            <a:srgbClr val="242832"/>
          </a:solidFill>
          <a:ln w="10160">
            <a:solidFill>
              <a:srgbClr val="7C8694"/>
            </a:solidFill>
            <a:prstDash val="solid"/>
          </a:ln>
        </p:spPr>
      </p:sp>
      <p:sp>
        <p:nvSpPr>
          <p:cNvPr id="66" name="Text 59"/>
          <p:cNvSpPr/>
          <p:nvPr/>
        </p:nvSpPr>
        <p:spPr>
          <a:xfrm>
            <a:off x="5138928" y="4736592"/>
            <a:ext cx="1901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7C8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[2] Skip</a:t>
            </a:r>
            <a:endParaRPr lang="en-US" sz="1000" dirty="0"/>
          </a:p>
        </p:txBody>
      </p:sp>
      <p:sp>
        <p:nvSpPr>
          <p:cNvPr id="67" name="Shape 60"/>
          <p:cNvSpPr/>
          <p:nvPr/>
        </p:nvSpPr>
        <p:spPr>
          <a:xfrm>
            <a:off x="6729984" y="3877056"/>
            <a:ext cx="2029968" cy="1234440"/>
          </a:xfrm>
          <a:prstGeom prst="roundRect">
            <a:avLst>
              <a:gd name="adj" fmla="val 5926"/>
            </a:avLst>
          </a:prstGeom>
          <a:solidFill>
            <a:srgbClr val="242832"/>
          </a:solidFill>
          <a:ln w="19050">
            <a:solidFill>
              <a:srgbClr val="323845"/>
            </a:solidFill>
            <a:prstDash val="solid"/>
          </a:ln>
        </p:spPr>
      </p:sp>
      <p:sp>
        <p:nvSpPr>
          <p:cNvPr id="68" name="Text 61"/>
          <p:cNvSpPr/>
          <p:nvPr/>
        </p:nvSpPr>
        <p:spPr>
          <a:xfrm>
            <a:off x="6821424" y="3931920"/>
            <a:ext cx="237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50" b="1" dirty="0">
                <a:solidFill>
                  <a:srgbClr val="7C8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</a:t>
            </a:r>
            <a:endParaRPr lang="en-US" sz="850" dirty="0"/>
          </a:p>
        </p:txBody>
      </p:sp>
      <p:sp>
        <p:nvSpPr>
          <p:cNvPr id="69" name="Text 62"/>
          <p:cNvSpPr/>
          <p:nvPr/>
        </p:nvSpPr>
        <p:spPr>
          <a:xfrm>
            <a:off x="7068312" y="3931920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50" b="1" dirty="0">
                <a:solidFill>
                  <a:srgbClr val="7C8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Command</a:t>
            </a:r>
            <a:endParaRPr lang="en-US" sz="850" dirty="0"/>
          </a:p>
        </p:txBody>
      </p:sp>
      <p:sp>
        <p:nvSpPr>
          <p:cNvPr id="70" name="Text 63"/>
          <p:cNvSpPr/>
          <p:nvPr/>
        </p:nvSpPr>
        <p:spPr>
          <a:xfrm>
            <a:off x="8101584" y="3931920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50" b="1" dirty="0">
                <a:solidFill>
                  <a:srgbClr val="7C8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Risk</a:t>
            </a:r>
            <a:endParaRPr lang="en-US" sz="850" dirty="0"/>
          </a:p>
        </p:txBody>
      </p:sp>
      <p:sp>
        <p:nvSpPr>
          <p:cNvPr id="71" name="Shape 64"/>
          <p:cNvSpPr/>
          <p:nvPr/>
        </p:nvSpPr>
        <p:spPr>
          <a:xfrm>
            <a:off x="6821424" y="4151376"/>
            <a:ext cx="1847088" cy="0"/>
          </a:xfrm>
          <a:prstGeom prst="line">
            <a:avLst/>
          </a:prstGeom>
          <a:noFill/>
          <a:ln w="19050">
            <a:solidFill>
              <a:srgbClr val="323845"/>
            </a:solidFill>
            <a:prstDash val="solid"/>
          </a:ln>
        </p:spPr>
      </p:sp>
      <p:sp>
        <p:nvSpPr>
          <p:cNvPr id="72" name="Text 65"/>
          <p:cNvSpPr/>
          <p:nvPr/>
        </p:nvSpPr>
        <p:spPr>
          <a:xfrm>
            <a:off x="6821424" y="4206240"/>
            <a:ext cx="201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7C8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850" dirty="0"/>
          </a:p>
        </p:txBody>
      </p:sp>
      <p:sp>
        <p:nvSpPr>
          <p:cNvPr id="73" name="Text 66"/>
          <p:cNvSpPr/>
          <p:nvPr/>
        </p:nvSpPr>
        <p:spPr>
          <a:xfrm>
            <a:off x="7059168" y="4206240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 /var/log/app</a:t>
            </a:r>
            <a:endParaRPr lang="en-US" sz="850" dirty="0"/>
          </a:p>
        </p:txBody>
      </p:sp>
      <p:sp>
        <p:nvSpPr>
          <p:cNvPr id="74" name="Shape 67"/>
          <p:cNvSpPr/>
          <p:nvPr/>
        </p:nvSpPr>
        <p:spPr>
          <a:xfrm>
            <a:off x="8083296" y="4206240"/>
            <a:ext cx="621792" cy="237744"/>
          </a:xfrm>
          <a:prstGeom prst="roundRect">
            <a:avLst>
              <a:gd name="adj" fmla="val 19231"/>
            </a:avLst>
          </a:prstGeom>
          <a:solidFill>
            <a:srgbClr val="242832"/>
          </a:solidFill>
          <a:ln w="15240">
            <a:solidFill>
              <a:srgbClr val="4ADE80"/>
            </a:solidFill>
            <a:prstDash val="solid"/>
          </a:ln>
        </p:spPr>
      </p:sp>
      <p:sp>
        <p:nvSpPr>
          <p:cNvPr id="75" name="Text 68"/>
          <p:cNvSpPr/>
          <p:nvPr/>
        </p:nvSpPr>
        <p:spPr>
          <a:xfrm>
            <a:off x="8083296" y="4206240"/>
            <a:ext cx="621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SAFE</a:t>
            </a:r>
            <a:endParaRPr lang="en-US" sz="950" dirty="0"/>
          </a:p>
        </p:txBody>
      </p:sp>
      <p:sp>
        <p:nvSpPr>
          <p:cNvPr id="76" name="Text 69"/>
          <p:cNvSpPr/>
          <p:nvPr/>
        </p:nvSpPr>
        <p:spPr>
          <a:xfrm>
            <a:off x="6821424" y="4480560"/>
            <a:ext cx="201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7C8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850" dirty="0"/>
          </a:p>
        </p:txBody>
      </p:sp>
      <p:sp>
        <p:nvSpPr>
          <p:cNvPr id="77" name="Text 70"/>
          <p:cNvSpPr/>
          <p:nvPr/>
        </p:nvSpPr>
        <p:spPr>
          <a:xfrm>
            <a:off x="7059168" y="4480560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chmod +x deploy.sh</a:t>
            </a:r>
            <a:endParaRPr lang="en-US" sz="850" dirty="0"/>
          </a:p>
        </p:txBody>
      </p:sp>
      <p:sp>
        <p:nvSpPr>
          <p:cNvPr id="78" name="Shape 71"/>
          <p:cNvSpPr/>
          <p:nvPr/>
        </p:nvSpPr>
        <p:spPr>
          <a:xfrm>
            <a:off x="8083296" y="4480560"/>
            <a:ext cx="621792" cy="237744"/>
          </a:xfrm>
          <a:prstGeom prst="roundRect">
            <a:avLst>
              <a:gd name="adj" fmla="val 19231"/>
            </a:avLst>
          </a:prstGeom>
          <a:solidFill>
            <a:srgbClr val="242832"/>
          </a:solidFill>
          <a:ln w="15240">
            <a:solidFill>
              <a:srgbClr val="F5A623"/>
            </a:solidFill>
            <a:prstDash val="solid"/>
          </a:ln>
        </p:spPr>
      </p:sp>
      <p:sp>
        <p:nvSpPr>
          <p:cNvPr id="79" name="Text 72"/>
          <p:cNvSpPr/>
          <p:nvPr/>
        </p:nvSpPr>
        <p:spPr>
          <a:xfrm>
            <a:off x="8083296" y="4480560"/>
            <a:ext cx="621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WARNING</a:t>
            </a:r>
            <a:endParaRPr lang="en-US" sz="950" dirty="0"/>
          </a:p>
        </p:txBody>
      </p:sp>
      <p:sp>
        <p:nvSpPr>
          <p:cNvPr id="80" name="Text 73"/>
          <p:cNvSpPr/>
          <p:nvPr/>
        </p:nvSpPr>
        <p:spPr>
          <a:xfrm>
            <a:off x="6821424" y="4754880"/>
            <a:ext cx="201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7C8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850" dirty="0"/>
          </a:p>
        </p:txBody>
      </p:sp>
      <p:sp>
        <p:nvSpPr>
          <p:cNvPr id="81" name="Text 74"/>
          <p:cNvSpPr/>
          <p:nvPr/>
        </p:nvSpPr>
        <p:spPr>
          <a:xfrm>
            <a:off x="7059168" y="4754880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systemctl restart</a:t>
            </a:r>
            <a:endParaRPr lang="en-US" sz="850" dirty="0"/>
          </a:p>
        </p:txBody>
      </p:sp>
      <p:sp>
        <p:nvSpPr>
          <p:cNvPr id="82" name="Shape 75"/>
          <p:cNvSpPr/>
          <p:nvPr/>
        </p:nvSpPr>
        <p:spPr>
          <a:xfrm>
            <a:off x="8083296" y="4754880"/>
            <a:ext cx="621792" cy="237744"/>
          </a:xfrm>
          <a:prstGeom prst="roundRect">
            <a:avLst>
              <a:gd name="adj" fmla="val 19231"/>
            </a:avLst>
          </a:prstGeom>
          <a:solidFill>
            <a:srgbClr val="242832"/>
          </a:solidFill>
          <a:ln w="15240">
            <a:solidFill>
              <a:srgbClr val="F87171"/>
            </a:solidFill>
            <a:prstDash val="solid"/>
          </a:ln>
        </p:spPr>
      </p:sp>
      <p:sp>
        <p:nvSpPr>
          <p:cNvPr id="83" name="Text 76"/>
          <p:cNvSpPr/>
          <p:nvPr/>
        </p:nvSpPr>
        <p:spPr>
          <a:xfrm>
            <a:off x="8083296" y="4754880"/>
            <a:ext cx="621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DANGER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7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25603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00" b="1" spc="250" kern="0" dirty="0">
                <a:solidFill>
                  <a:srgbClr val="22D3C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ADVANCED CAPABILITIES &amp; INTEGRATION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384048" y="493776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Smarter Over Time — RAG, Fine-Tuning &amp; Enterprise Fit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84048" y="1444752"/>
            <a:ext cx="8375904" cy="0"/>
          </a:xfrm>
          <a:prstGeom prst="line">
            <a:avLst/>
          </a:prstGeom>
          <a:noFill/>
          <a:ln w="19050">
            <a:solidFill>
              <a:srgbClr val="32384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84048" y="1517904"/>
            <a:ext cx="2743200" cy="3255264"/>
          </a:xfrm>
          <a:prstGeom prst="roundRect">
            <a:avLst>
              <a:gd name="adj" fmla="val 2667"/>
            </a:avLst>
          </a:prstGeom>
          <a:solidFill>
            <a:srgbClr val="1B1F27"/>
          </a:solidFill>
          <a:ln w="19050">
            <a:solidFill>
              <a:srgbClr val="22D3C8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39496" y="1655064"/>
            <a:ext cx="457200" cy="457200"/>
          </a:xfrm>
          <a:prstGeom prst="ellipse">
            <a:avLst/>
          </a:prstGeom>
          <a:solidFill>
            <a:srgbClr val="242832"/>
          </a:solidFill>
          <a:ln w="12700">
            <a:solidFill>
              <a:srgbClr val="242832"/>
            </a:solidFill>
            <a:prstDash val="solid"/>
          </a:ln>
        </p:spPr>
      </p:sp>
      <p:pic>
        <p:nvPicPr>
          <p:cNvPr id="7" name="Image 0" descr="/home/claude/pptx2/assets/d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1218" y="1716786"/>
            <a:ext cx="333756" cy="33375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52144" y="1609344"/>
            <a:ext cx="1865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22D3C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RAG Knowledge Base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512064" y="2176272"/>
            <a:ext cx="24871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Vector store of known error↔fix pairs. Injected as context before every LLM call — no retraining needed.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12064" y="2724912"/>
            <a:ext cx="2487168" cy="0"/>
          </a:xfrm>
          <a:prstGeom prst="line">
            <a:avLst/>
          </a:prstGeom>
          <a:noFill/>
          <a:ln w="19050">
            <a:solidFill>
              <a:srgbClr val="32384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48640" y="28163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7C8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Store: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1280160" y="281635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Qdrant / Chroma / pgvector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548640" y="3145536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7C8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Embed: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1280160" y="314553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BGE-M3, all-minilm, nomic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548640" y="34747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7C8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Query: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1280160" y="34747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top-k similar past errors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548640" y="3803904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7C8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Format: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1280160" y="380390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error → commands → outcome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512064" y="4370832"/>
            <a:ext cx="2487168" cy="292608"/>
          </a:xfrm>
          <a:prstGeom prst="roundRect">
            <a:avLst>
              <a:gd name="adj" fmla="val 12500"/>
            </a:avLst>
          </a:prstGeom>
          <a:solidFill>
            <a:srgbClr val="242832"/>
          </a:solidFill>
          <a:ln w="12700">
            <a:solidFill>
              <a:srgbClr val="242832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03504" y="4370832"/>
            <a:ext cx="23042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i="1" dirty="0">
                <a:solidFill>
                  <a:srgbClr val="22D3C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Result: fewer hallucinations, org-specific answers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3300984" y="1517904"/>
            <a:ext cx="2743200" cy="3255264"/>
          </a:xfrm>
          <a:prstGeom prst="roundRect">
            <a:avLst>
              <a:gd name="adj" fmla="val 2667"/>
            </a:avLst>
          </a:prstGeom>
          <a:solidFill>
            <a:srgbClr val="1B1F27"/>
          </a:solidFill>
          <a:ln w="19050">
            <a:solidFill>
              <a:srgbClr val="F5A62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22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3456432" y="1655064"/>
            <a:ext cx="457200" cy="457200"/>
          </a:xfrm>
          <a:prstGeom prst="ellipse">
            <a:avLst/>
          </a:prstGeom>
          <a:solidFill>
            <a:srgbClr val="242832"/>
          </a:solidFill>
          <a:ln w="12700">
            <a:solidFill>
              <a:srgbClr val="242832"/>
            </a:solidFill>
            <a:prstDash val="solid"/>
          </a:ln>
        </p:spPr>
      </p:sp>
      <p:pic>
        <p:nvPicPr>
          <p:cNvPr id="23" name="Image 1" descr="/home/claude/pptx2/assets/brai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8154" y="1716786"/>
            <a:ext cx="333756" cy="333756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4069080" y="1609344"/>
            <a:ext cx="1865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5A6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Fine-Tuning on Own Data</a:t>
            </a:r>
            <a:endParaRPr lang="en-US" sz="1350" dirty="0"/>
          </a:p>
        </p:txBody>
      </p:sp>
      <p:sp>
        <p:nvSpPr>
          <p:cNvPr id="25" name="Text 21"/>
          <p:cNvSpPr/>
          <p:nvPr/>
        </p:nvSpPr>
        <p:spPr>
          <a:xfrm>
            <a:off x="3429000" y="2176272"/>
            <a:ext cx="24871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Adapt any open-weight model on your historical incidents — log lines, root causes, approved fixes.</a:t>
            </a:r>
            <a:endParaRPr lang="en-US" sz="1000" dirty="0"/>
          </a:p>
        </p:txBody>
      </p:sp>
      <p:sp>
        <p:nvSpPr>
          <p:cNvPr id="26" name="Shape 22"/>
          <p:cNvSpPr/>
          <p:nvPr/>
        </p:nvSpPr>
        <p:spPr>
          <a:xfrm>
            <a:off x="3429000" y="2724912"/>
            <a:ext cx="2487168" cy="0"/>
          </a:xfrm>
          <a:prstGeom prst="line">
            <a:avLst/>
          </a:prstGeom>
          <a:noFill/>
          <a:ln w="19050">
            <a:solidFill>
              <a:srgbClr val="323845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3465576" y="28163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7C8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Input:</a:t>
            </a:r>
            <a:endParaRPr lang="en-US" sz="950" dirty="0"/>
          </a:p>
        </p:txBody>
      </p:sp>
      <p:sp>
        <p:nvSpPr>
          <p:cNvPr id="28" name="Text 24"/>
          <p:cNvSpPr/>
          <p:nvPr/>
        </p:nvSpPr>
        <p:spPr>
          <a:xfrm>
            <a:off x="4197096" y="281635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incident JSONL export</a:t>
            </a:r>
            <a:endParaRPr lang="en-US" sz="950" dirty="0"/>
          </a:p>
        </p:txBody>
      </p:sp>
      <p:sp>
        <p:nvSpPr>
          <p:cNvPr id="29" name="Text 25"/>
          <p:cNvSpPr/>
          <p:nvPr/>
        </p:nvSpPr>
        <p:spPr>
          <a:xfrm>
            <a:off x="3465576" y="3145536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7C8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Method:</a:t>
            </a:r>
            <a:endParaRPr lang="en-US" sz="950" dirty="0"/>
          </a:p>
        </p:txBody>
      </p:sp>
      <p:sp>
        <p:nvSpPr>
          <p:cNvPr id="30" name="Text 26"/>
          <p:cNvSpPr/>
          <p:nvPr/>
        </p:nvSpPr>
        <p:spPr>
          <a:xfrm>
            <a:off x="4197096" y="314553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QLoRA / LoRA (4-bit)</a:t>
            </a:r>
            <a:endParaRPr lang="en-US" sz="950" dirty="0"/>
          </a:p>
        </p:txBody>
      </p:sp>
      <p:sp>
        <p:nvSpPr>
          <p:cNvPr id="31" name="Text 27"/>
          <p:cNvSpPr/>
          <p:nvPr/>
        </p:nvSpPr>
        <p:spPr>
          <a:xfrm>
            <a:off x="3465576" y="34747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7C8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Runtime:</a:t>
            </a:r>
            <a:endParaRPr lang="en-US" sz="950" dirty="0"/>
          </a:p>
        </p:txBody>
      </p:sp>
      <p:sp>
        <p:nvSpPr>
          <p:cNvPr id="32" name="Text 28"/>
          <p:cNvSpPr/>
          <p:nvPr/>
        </p:nvSpPr>
        <p:spPr>
          <a:xfrm>
            <a:off x="4197096" y="34747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Ollama · vLLM · llama.cpp</a:t>
            </a:r>
            <a:endParaRPr lang="en-US" sz="950" dirty="0"/>
          </a:p>
        </p:txBody>
      </p:sp>
      <p:sp>
        <p:nvSpPr>
          <p:cNvPr id="33" name="Text 29"/>
          <p:cNvSpPr/>
          <p:nvPr/>
        </p:nvSpPr>
        <p:spPr>
          <a:xfrm>
            <a:off x="3465576" y="3803904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7C8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Format:</a:t>
            </a:r>
            <a:endParaRPr lang="en-US" sz="950" dirty="0"/>
          </a:p>
        </p:txBody>
      </p:sp>
      <p:sp>
        <p:nvSpPr>
          <p:cNvPr id="34" name="Text 30"/>
          <p:cNvSpPr/>
          <p:nvPr/>
        </p:nvSpPr>
        <p:spPr>
          <a:xfrm>
            <a:off x="4197096" y="380390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system/user/assistant turns</a:t>
            </a:r>
            <a:endParaRPr lang="en-US" sz="950" dirty="0"/>
          </a:p>
        </p:txBody>
      </p:sp>
      <p:sp>
        <p:nvSpPr>
          <p:cNvPr id="35" name="Shape 31"/>
          <p:cNvSpPr/>
          <p:nvPr/>
        </p:nvSpPr>
        <p:spPr>
          <a:xfrm>
            <a:off x="3429000" y="4370832"/>
            <a:ext cx="2487168" cy="292608"/>
          </a:xfrm>
          <a:prstGeom prst="roundRect">
            <a:avLst>
              <a:gd name="adj" fmla="val 12500"/>
            </a:avLst>
          </a:prstGeom>
          <a:solidFill>
            <a:srgbClr val="242832"/>
          </a:solidFill>
          <a:ln w="12700">
            <a:solidFill>
              <a:srgbClr val="242832"/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3520440" y="4370832"/>
            <a:ext cx="23042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i="1" dirty="0">
                <a:solidFill>
                  <a:srgbClr val="F5A6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Result: model speaks your infra's language</a:t>
            </a:r>
            <a:endParaRPr lang="en-US" sz="950" dirty="0"/>
          </a:p>
        </p:txBody>
      </p:sp>
      <p:sp>
        <p:nvSpPr>
          <p:cNvPr id="37" name="Shape 33"/>
          <p:cNvSpPr/>
          <p:nvPr/>
        </p:nvSpPr>
        <p:spPr>
          <a:xfrm>
            <a:off x="6217920" y="1517904"/>
            <a:ext cx="2743200" cy="3255264"/>
          </a:xfrm>
          <a:prstGeom prst="roundRect">
            <a:avLst>
              <a:gd name="adj" fmla="val 2667"/>
            </a:avLst>
          </a:prstGeom>
          <a:solidFill>
            <a:srgbClr val="1B1F27"/>
          </a:solidFill>
          <a:ln w="19050">
            <a:solidFill>
              <a:srgbClr val="4ADE8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22000"/>
              </a:srgbClr>
            </a:outerShdw>
          </a:effectLst>
        </p:spPr>
      </p:sp>
      <p:sp>
        <p:nvSpPr>
          <p:cNvPr id="38" name="Shape 34"/>
          <p:cNvSpPr/>
          <p:nvPr/>
        </p:nvSpPr>
        <p:spPr>
          <a:xfrm>
            <a:off x="6373368" y="1655064"/>
            <a:ext cx="457200" cy="457200"/>
          </a:xfrm>
          <a:prstGeom prst="ellipse">
            <a:avLst/>
          </a:prstGeom>
          <a:solidFill>
            <a:srgbClr val="242832"/>
          </a:solidFill>
          <a:ln w="12700">
            <a:solidFill>
              <a:srgbClr val="242832"/>
            </a:solidFill>
            <a:prstDash val="solid"/>
          </a:ln>
        </p:spPr>
      </p:sp>
      <p:pic>
        <p:nvPicPr>
          <p:cNvPr id="39" name="Image 2" descr="/home/claude/pptx2/assets/plu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5090" y="1716786"/>
            <a:ext cx="333756" cy="333756"/>
          </a:xfrm>
          <a:prstGeom prst="rect">
            <a:avLst/>
          </a:prstGeom>
        </p:spPr>
      </p:pic>
      <p:sp>
        <p:nvSpPr>
          <p:cNvPr id="40" name="Text 35"/>
          <p:cNvSpPr/>
          <p:nvPr/>
        </p:nvSpPr>
        <p:spPr>
          <a:xfrm>
            <a:off x="6986016" y="1609344"/>
            <a:ext cx="1865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Enterprise Integration</a:t>
            </a:r>
            <a:endParaRPr lang="en-US" sz="1350" dirty="0"/>
          </a:p>
        </p:txBody>
      </p:sp>
      <p:sp>
        <p:nvSpPr>
          <p:cNvPr id="41" name="Text 36"/>
          <p:cNvSpPr/>
          <p:nvPr/>
        </p:nvSpPr>
        <p:spPr>
          <a:xfrm>
            <a:off x="6345936" y="2176272"/>
            <a:ext cx="24871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pipeline output is structured JSON — trivial to forward to any existing toolchain.</a:t>
            </a:r>
            <a:endParaRPr lang="en-US" sz="1000" dirty="0"/>
          </a:p>
        </p:txBody>
      </p:sp>
      <p:sp>
        <p:nvSpPr>
          <p:cNvPr id="42" name="Shape 37"/>
          <p:cNvSpPr/>
          <p:nvPr/>
        </p:nvSpPr>
        <p:spPr>
          <a:xfrm>
            <a:off x="6345936" y="2724912"/>
            <a:ext cx="2487168" cy="0"/>
          </a:xfrm>
          <a:prstGeom prst="line">
            <a:avLst/>
          </a:prstGeom>
          <a:noFill/>
          <a:ln w="19050">
            <a:solidFill>
              <a:srgbClr val="323845"/>
            </a:solidFill>
            <a:prstDash val="solid"/>
          </a:ln>
        </p:spPr>
      </p:sp>
      <p:sp>
        <p:nvSpPr>
          <p:cNvPr id="43" name="Text 38"/>
          <p:cNvSpPr/>
          <p:nvPr/>
        </p:nvSpPr>
        <p:spPr>
          <a:xfrm>
            <a:off x="6382512" y="28163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7C8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Tickets:</a:t>
            </a:r>
            <a:endParaRPr lang="en-US" sz="950" dirty="0"/>
          </a:p>
        </p:txBody>
      </p:sp>
      <p:sp>
        <p:nvSpPr>
          <p:cNvPr id="44" name="Text 39"/>
          <p:cNvSpPr/>
          <p:nvPr/>
        </p:nvSpPr>
        <p:spPr>
          <a:xfrm>
            <a:off x="7114032" y="281635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Jira, ServiceNow, Linear</a:t>
            </a:r>
            <a:endParaRPr lang="en-US" sz="950" dirty="0"/>
          </a:p>
        </p:txBody>
      </p:sp>
      <p:sp>
        <p:nvSpPr>
          <p:cNvPr id="45" name="Text 40"/>
          <p:cNvSpPr/>
          <p:nvPr/>
        </p:nvSpPr>
        <p:spPr>
          <a:xfrm>
            <a:off x="6382512" y="3145536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7C8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Chat:</a:t>
            </a:r>
            <a:endParaRPr lang="en-US" sz="950" dirty="0"/>
          </a:p>
        </p:txBody>
      </p:sp>
      <p:sp>
        <p:nvSpPr>
          <p:cNvPr id="46" name="Text 41"/>
          <p:cNvSpPr/>
          <p:nvPr/>
        </p:nvSpPr>
        <p:spPr>
          <a:xfrm>
            <a:off x="7114032" y="314553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Slack, MS Teams, Mattermost</a:t>
            </a:r>
            <a:endParaRPr lang="en-US" sz="950" dirty="0"/>
          </a:p>
        </p:txBody>
      </p:sp>
      <p:sp>
        <p:nvSpPr>
          <p:cNvPr id="47" name="Text 42"/>
          <p:cNvSpPr/>
          <p:nvPr/>
        </p:nvSpPr>
        <p:spPr>
          <a:xfrm>
            <a:off x="6382512" y="34747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7C8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Alerting:</a:t>
            </a:r>
            <a:endParaRPr lang="en-US" sz="950" dirty="0"/>
          </a:p>
        </p:txBody>
      </p:sp>
      <p:sp>
        <p:nvSpPr>
          <p:cNvPr id="48" name="Text 43"/>
          <p:cNvSpPr/>
          <p:nvPr/>
        </p:nvSpPr>
        <p:spPr>
          <a:xfrm>
            <a:off x="7114032" y="34747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PagerDuty, OpsGenie</a:t>
            </a:r>
            <a:endParaRPr lang="en-US" sz="950" dirty="0"/>
          </a:p>
        </p:txBody>
      </p:sp>
      <p:sp>
        <p:nvSpPr>
          <p:cNvPr id="49" name="Text 44"/>
          <p:cNvSpPr/>
          <p:nvPr/>
        </p:nvSpPr>
        <p:spPr>
          <a:xfrm>
            <a:off x="6382512" y="3803904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7C8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SIEM:</a:t>
            </a:r>
            <a:endParaRPr lang="en-US" sz="950" dirty="0"/>
          </a:p>
        </p:txBody>
      </p:sp>
      <p:sp>
        <p:nvSpPr>
          <p:cNvPr id="50" name="Text 45"/>
          <p:cNvSpPr/>
          <p:nvPr/>
        </p:nvSpPr>
        <p:spPr>
          <a:xfrm>
            <a:off x="7114032" y="380390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Splunk, Elastic, Graylog</a:t>
            </a:r>
            <a:endParaRPr lang="en-US" sz="950" dirty="0"/>
          </a:p>
        </p:txBody>
      </p:sp>
      <p:sp>
        <p:nvSpPr>
          <p:cNvPr id="51" name="Shape 46"/>
          <p:cNvSpPr/>
          <p:nvPr/>
        </p:nvSpPr>
        <p:spPr>
          <a:xfrm>
            <a:off x="6345936" y="4370832"/>
            <a:ext cx="2487168" cy="292608"/>
          </a:xfrm>
          <a:prstGeom prst="roundRect">
            <a:avLst>
              <a:gd name="adj" fmla="val 12500"/>
            </a:avLst>
          </a:prstGeom>
          <a:solidFill>
            <a:srgbClr val="242832"/>
          </a:solidFill>
          <a:ln w="12700">
            <a:solidFill>
              <a:srgbClr val="242832"/>
            </a:solidFill>
            <a:prstDash val="solid"/>
          </a:ln>
        </p:spPr>
      </p:sp>
      <p:sp>
        <p:nvSpPr>
          <p:cNvPr id="52" name="Text 47"/>
          <p:cNvSpPr/>
          <p:nvPr/>
        </p:nvSpPr>
        <p:spPr>
          <a:xfrm>
            <a:off x="6437376" y="4370832"/>
            <a:ext cx="23042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i="1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Result: automated ticket creation &amp; escalation</a:t>
            </a:r>
            <a:endParaRPr lang="en-US" sz="950" dirty="0"/>
          </a:p>
        </p:txBody>
      </p:sp>
      <p:sp>
        <p:nvSpPr>
          <p:cNvPr id="53" name="Shape 48"/>
          <p:cNvSpPr/>
          <p:nvPr/>
        </p:nvSpPr>
        <p:spPr>
          <a:xfrm>
            <a:off x="384048" y="4818888"/>
            <a:ext cx="8375904" cy="0"/>
          </a:xfrm>
          <a:prstGeom prst="line">
            <a:avLst/>
          </a:prstGeom>
          <a:noFill/>
          <a:ln w="19050">
            <a:solidFill>
              <a:srgbClr val="323845"/>
            </a:solidFill>
            <a:prstDash val="solid"/>
          </a:ln>
        </p:spPr>
      </p:sp>
      <p:sp>
        <p:nvSpPr>
          <p:cNvPr id="54" name="Text 49"/>
          <p:cNvSpPr/>
          <p:nvPr/>
        </p:nvSpPr>
        <p:spPr>
          <a:xfrm>
            <a:off x="384048" y="486460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i="1" dirty="0">
                <a:solidFill>
                  <a:srgbClr val="7C869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LLM config parameters:</a:t>
            </a:r>
            <a:endParaRPr lang="en-US" sz="1000" dirty="0"/>
          </a:p>
        </p:txBody>
      </p:sp>
      <p:sp>
        <p:nvSpPr>
          <p:cNvPr id="55" name="Shape 50"/>
          <p:cNvSpPr/>
          <p:nvPr/>
        </p:nvSpPr>
        <p:spPr>
          <a:xfrm>
            <a:off x="2578608" y="4864608"/>
            <a:ext cx="1554480" cy="246888"/>
          </a:xfrm>
          <a:prstGeom prst="roundRect">
            <a:avLst>
              <a:gd name="adj" fmla="val 14815"/>
            </a:avLst>
          </a:prstGeom>
          <a:solidFill>
            <a:srgbClr val="242832"/>
          </a:solidFill>
          <a:ln w="19050">
            <a:solidFill>
              <a:srgbClr val="323845"/>
            </a:solidFill>
            <a:prstDash val="solid"/>
          </a:ln>
        </p:spPr>
      </p:sp>
      <p:sp>
        <p:nvSpPr>
          <p:cNvPr id="56" name="Text 51"/>
          <p:cNvSpPr/>
          <p:nvPr/>
        </p:nvSpPr>
        <p:spPr>
          <a:xfrm>
            <a:off x="2578608" y="4864608"/>
            <a:ext cx="1554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22D3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LLM_API_TYPE</a:t>
            </a:r>
            <a:endParaRPr lang="en-US" sz="900" dirty="0"/>
          </a:p>
        </p:txBody>
      </p:sp>
      <p:sp>
        <p:nvSpPr>
          <p:cNvPr id="57" name="Shape 52"/>
          <p:cNvSpPr/>
          <p:nvPr/>
        </p:nvSpPr>
        <p:spPr>
          <a:xfrm>
            <a:off x="4206240" y="4864608"/>
            <a:ext cx="1554480" cy="246888"/>
          </a:xfrm>
          <a:prstGeom prst="roundRect">
            <a:avLst>
              <a:gd name="adj" fmla="val 14815"/>
            </a:avLst>
          </a:prstGeom>
          <a:solidFill>
            <a:srgbClr val="242832"/>
          </a:solidFill>
          <a:ln w="19050">
            <a:solidFill>
              <a:srgbClr val="323845"/>
            </a:solidFill>
            <a:prstDash val="solid"/>
          </a:ln>
        </p:spPr>
      </p:sp>
      <p:sp>
        <p:nvSpPr>
          <p:cNvPr id="58" name="Text 53"/>
          <p:cNvSpPr/>
          <p:nvPr/>
        </p:nvSpPr>
        <p:spPr>
          <a:xfrm>
            <a:off x="4206240" y="4864608"/>
            <a:ext cx="1554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22D3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LLM_BASE_URL</a:t>
            </a:r>
            <a:endParaRPr lang="en-US" sz="900" dirty="0"/>
          </a:p>
        </p:txBody>
      </p:sp>
      <p:sp>
        <p:nvSpPr>
          <p:cNvPr id="59" name="Shape 54"/>
          <p:cNvSpPr/>
          <p:nvPr/>
        </p:nvSpPr>
        <p:spPr>
          <a:xfrm>
            <a:off x="5833872" y="4864608"/>
            <a:ext cx="1554480" cy="246888"/>
          </a:xfrm>
          <a:prstGeom prst="roundRect">
            <a:avLst>
              <a:gd name="adj" fmla="val 14815"/>
            </a:avLst>
          </a:prstGeom>
          <a:solidFill>
            <a:srgbClr val="242832"/>
          </a:solidFill>
          <a:ln w="19050">
            <a:solidFill>
              <a:srgbClr val="323845"/>
            </a:solidFill>
            <a:prstDash val="solid"/>
          </a:ln>
        </p:spPr>
      </p:sp>
      <p:sp>
        <p:nvSpPr>
          <p:cNvPr id="60" name="Text 55"/>
          <p:cNvSpPr/>
          <p:nvPr/>
        </p:nvSpPr>
        <p:spPr>
          <a:xfrm>
            <a:off x="5833872" y="4864608"/>
            <a:ext cx="1554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22D3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LLM_MODEL</a:t>
            </a:r>
            <a:endParaRPr lang="en-US" sz="900" dirty="0"/>
          </a:p>
        </p:txBody>
      </p:sp>
      <p:sp>
        <p:nvSpPr>
          <p:cNvPr id="61" name="Shape 56"/>
          <p:cNvSpPr/>
          <p:nvPr/>
        </p:nvSpPr>
        <p:spPr>
          <a:xfrm>
            <a:off x="7461504" y="4864608"/>
            <a:ext cx="1554480" cy="246888"/>
          </a:xfrm>
          <a:prstGeom prst="roundRect">
            <a:avLst>
              <a:gd name="adj" fmla="val 14815"/>
            </a:avLst>
          </a:prstGeom>
          <a:solidFill>
            <a:srgbClr val="242832"/>
          </a:solidFill>
          <a:ln w="19050">
            <a:solidFill>
              <a:srgbClr val="323845"/>
            </a:solidFill>
            <a:prstDash val="solid"/>
          </a:ln>
        </p:spPr>
      </p:sp>
      <p:sp>
        <p:nvSpPr>
          <p:cNvPr id="62" name="Text 57"/>
          <p:cNvSpPr/>
          <p:nvPr/>
        </p:nvSpPr>
        <p:spPr>
          <a:xfrm>
            <a:off x="7461504" y="4864608"/>
            <a:ext cx="1554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22D3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LLM_API_KEY</a:t>
            </a:r>
            <a:endParaRPr lang="en-US" sz="900" dirty="0"/>
          </a:p>
        </p:txBody>
      </p:sp>
      <p:sp>
        <p:nvSpPr>
          <p:cNvPr id="63" name="Text 58"/>
          <p:cNvSpPr/>
          <p:nvPr/>
        </p:nvSpPr>
        <p:spPr>
          <a:xfrm>
            <a:off x="8503920" y="4800600"/>
            <a:ext cx="530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7C869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 / 3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Multi-Agent Log Monitor — Capabilities</dc:title>
  <dc:subject>PptxGenJS Presentation</dc:subject>
  <dc:creator>PptxGenJS</dc:creator>
  <cp:lastModifiedBy>PptxGenJS</cp:lastModifiedBy>
  <cp:revision>1</cp:revision>
  <dcterms:created xsi:type="dcterms:W3CDTF">2026-08-17T06:25:29Z</dcterms:created>
  <dcterms:modified xsi:type="dcterms:W3CDTF">2026-08-17T06:25:29Z</dcterms:modified>
</cp:coreProperties>
</file>